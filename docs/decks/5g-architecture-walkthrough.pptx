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47504" y="160934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47504" y="1609344"/>
            <a:ext cx="457200" cy="192024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2432304"/>
            <a:ext cx="457200" cy="192024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04704" y="3529584"/>
            <a:ext cx="-640080" cy="12801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4352544"/>
            <a:ext cx="-1920240" cy="45720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64624" y="4809744"/>
            <a:ext cx="1280160" cy="73152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146304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286000"/>
            <a:ext cx="292608" cy="292608"/>
          </a:xfrm>
          <a:prstGeom prst="ellipse">
            <a:avLst/>
          </a:prstGeom>
          <a:solidFill>
            <a:srgbClr val="2C6FB5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0" y="3383280"/>
            <a:ext cx="292608" cy="292608"/>
          </a:xfrm>
          <a:prstGeom prst="ellipse">
            <a:avLst/>
          </a:prstGeom>
          <a:solidFill>
            <a:srgbClr val="6B63C9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4206240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663440"/>
            <a:ext cx="292608" cy="292608"/>
          </a:xfrm>
          <a:prstGeom prst="ellipse">
            <a:avLst/>
          </a:prstGeom>
          <a:solidFill>
            <a:srgbClr val="2C6FB5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0" y="539496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5G Core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architecture diagram — what every box and line means, in plain language.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COLORS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is colored by what it carries. Learn these four and the whole picture reads itself.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15768"/>
            <a:ext cx="1371600" cy="0"/>
          </a:xfrm>
          <a:prstGeom prst="line">
            <a:avLst/>
          </a:prstGeom>
          <a:noFill/>
          <a:ln w="44450">
            <a:solidFill>
              <a:srgbClr val="1C9E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User-plane data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traffic — web, video, everything you send and receive.  (N3, N6)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73552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703320"/>
            <a:ext cx="1371600" cy="0"/>
          </a:xfrm>
          <a:prstGeom prst="line">
            <a:avLst/>
          </a:prstGeom>
          <a:noFill/>
          <a:ln w="44450">
            <a:solidFill>
              <a:srgbClr val="2C6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273552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signaling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talking to itself to set things up — no user data.  (N2, SBI)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261104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4690872"/>
            <a:ext cx="1371600" cy="0"/>
          </a:xfrm>
          <a:prstGeom prst="line">
            <a:avLst/>
          </a:prstGeom>
          <a:noFill/>
          <a:ln w="44450">
            <a:solidFill>
              <a:srgbClr val="2C6FB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743200" y="4261104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· PFCP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 control link: the core telling the data gateway how to run a session.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248656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678424"/>
            <a:ext cx="1371600" cy="0"/>
          </a:xfrm>
          <a:prstGeom prst="line">
            <a:avLst/>
          </a:prstGeom>
          <a:noFill/>
          <a:ln w="44450">
            <a:solidFill>
              <a:srgbClr val="D85A3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743200" y="5248656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tooling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add-ons — generating attacks and recording traffic.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5G Core — Walkthrough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picture</a:t>
            </a:r>
            <a:endParaRPr lang="en-US" sz="3000" dirty="0"/>
          </a:p>
        </p:txBody>
      </p:sp>
      <p:pic>
        <p:nvPicPr>
          <p:cNvPr id="4" name="Image 0" descr="/sessions/vibrant-gallant-lamport/mnt/5g-lab-in-a-box/docs/diagrams/5g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371600"/>
            <a:ext cx="6620256" cy="4873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27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flows left → right: phone &amp; tower (RAN) → the core's brains (control plane) → the data gateway (UPF) → the internet. We'll take it one region at a time.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 ·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RAN — the phone &amp; the tower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= Radio Access Network. In the diagram this is the purple box on the far left. It holds two things a real network keeps miles apart — here both are simulated by one program.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phone does to get online starts here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flows rightward into the core. The blue line leaving the tower (N1/N2) is the “let this phone on” conversation.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DECFA"/>
          </a:solidFill>
          <a:ln w="19050">
            <a:solidFill>
              <a:srgbClr val="6B63C9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2668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01000" y="2121408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8641080" y="17373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handset + SIM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464040" y="2971800"/>
            <a:ext cx="0" cy="457200"/>
          </a:xfrm>
          <a:prstGeom prst="line">
            <a:avLst/>
          </a:prstGeom>
          <a:noFill/>
          <a:ln w="25400">
            <a:solidFill>
              <a:srgbClr val="6B63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35204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DECFA"/>
          </a:solidFill>
          <a:ln w="19050">
            <a:solidFill>
              <a:srgbClr val="6B63C9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35204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3904488"/>
            <a:ext cx="457200" cy="45720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5G radio tower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8096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N1/N2 to the 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5G Core — Walkthrough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CENTER · 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Plane — the brains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blue box: the decision-makers. Think of them as the staff of a members' club — each does one job, and they talk to each other over web technology (the “SBI” line).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7744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2377440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greeter / front desk —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from the tower; handles the phone joining and moving around.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74136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374136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 · UDM · UDR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3374136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 desk &amp; records —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SIM is genuine (authentication) and look up what it's allowed to do.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70832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7083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4370832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organizer —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your internet session when you actually want to use data.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36752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· NSSF · NRF · SCP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536752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supporting staff —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data limits, network “slicing,” the internal directory, and message routing.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5G Core — Walkthrough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CENTER · 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UPF — the fast lane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box. Once the phone is approved, your data doesn't crawl through all that staff — it takes the express doorway straight through the UPF (User Plane Function).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touch it.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(N3) carries your data in from the tower, tunneled.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Blue-dashed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(N4) is the SMF telling it how to handle the session.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178308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E5F5E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83880" y="17830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17830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organizer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09760" y="2944368"/>
            <a:ext cx="0" cy="685800"/>
          </a:xfrm>
          <a:prstGeom prst="line">
            <a:avLst/>
          </a:prstGeom>
          <a:noFill/>
          <a:ln w="25400">
            <a:solidFill>
              <a:srgbClr val="2C6FB5"/>
            </a:solidFill>
            <a:prstDash val="dash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6012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37033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C9E7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09560" y="37033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3703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gateway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66560" y="4315968"/>
            <a:ext cx="1005840" cy="0"/>
          </a:xfrm>
          <a:prstGeom prst="line">
            <a:avLst/>
          </a:prstGeom>
          <a:noFill/>
          <a:ln w="38100">
            <a:solidFill>
              <a:srgbClr val="1C9E7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53796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N6 out to the internet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5G Core — Walkthrough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journeys,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diagram is really just these two paths. Trace them and you understand 5G.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 ·  the green path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3081528"/>
            <a:ext cx="502920" cy="0"/>
          </a:xfrm>
          <a:prstGeom prst="line">
            <a:avLst/>
          </a:prstGeom>
          <a:noFill/>
          <a:ln w="28575">
            <a:solidFill>
              <a:srgbClr val="1C9E7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154680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697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80760" y="3081528"/>
            <a:ext cx="502920" cy="0"/>
          </a:xfrm>
          <a:prstGeom prst="line">
            <a:avLst/>
          </a:prstGeom>
          <a:noFill/>
          <a:ln w="28575">
            <a:solidFill>
              <a:srgbClr val="1C9E7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943600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2697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69680" y="3081528"/>
            <a:ext cx="502920" cy="0"/>
          </a:xfrm>
          <a:prstGeom prst="line">
            <a:avLst/>
          </a:prstGeom>
          <a:noFill/>
          <a:ln w="28575">
            <a:solidFill>
              <a:srgbClr val="1C9E7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732520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0" y="2697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640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signaling  ·  the blue path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4663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91840" y="5047488"/>
            <a:ext cx="502920" cy="0"/>
          </a:xfrm>
          <a:prstGeom prst="line">
            <a:avLst/>
          </a:prstGeom>
          <a:noFill/>
          <a:ln w="28575">
            <a:solidFill>
              <a:srgbClr val="2C6FB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154680" y="4663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4663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8620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80760" y="5047488"/>
            <a:ext cx="502920" cy="0"/>
          </a:xfrm>
          <a:prstGeom prst="line">
            <a:avLst/>
          </a:prstGeom>
          <a:noFill/>
          <a:ln w="28575">
            <a:solidFill>
              <a:srgbClr val="2C6FB5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943600" y="4663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4663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869680" y="5047488"/>
            <a:ext cx="502920" cy="0"/>
          </a:xfrm>
          <a:prstGeom prst="line">
            <a:avLst/>
          </a:prstGeom>
          <a:noFill/>
          <a:ln w="28575">
            <a:solidFill>
              <a:srgbClr val="2C6FB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732520" y="4663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418320" y="4663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6404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sets the phone up; green carries the data. Every other box on the diagram supports one of these two.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5G Core — Walkthrough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THE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a security lab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coral box underneath hooks onto the two data-plane pipes — because N3 and N4 are exactly where a real attacker would strike.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2468880"/>
            <a:ext cx="4663440" cy="2651760"/>
          </a:xfrm>
          <a:prstGeom prst="roundRect">
            <a:avLst>
              <a:gd name="adj" fmla="val 3448"/>
            </a:avLst>
          </a:prstGeom>
          <a:solidFill>
            <a:srgbClr val="D85A30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attacks/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B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“inject”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3749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malformed or flood traffic at N3 and N4 — the realistic attack surface of a live 5G core.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4663440" cy="2651760"/>
          </a:xfrm>
          <a:prstGeom prst="roundRect">
            <a:avLst>
              <a:gd name="adj" fmla="val 3448"/>
            </a:avLst>
          </a:prstGeom>
          <a:solidFill>
            <a:srgbClr val="993C1D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capture/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67512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B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“tap”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749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everything crossing N3 and N4, turning it into labeled data to train an anomaly detector.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lab knows which attack is running, every capture is labeled automatically — clean training data.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5G Core — Walkthrough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reaches the tower, the tower talks to the core's brains to log it in, and then your data rides the fast lane out to the internet.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23264F"/>
          </a:solidFill>
          <a:ln w="19050">
            <a:solidFill>
              <a:srgbClr val="1C9E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4297680"/>
            <a:ext cx="310896" cy="310896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your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4754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and N6 carry real traffic.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3977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23264F"/>
          </a:solidFill>
          <a:ln w="19050">
            <a:solidFill>
              <a:srgbClr val="2C6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297680"/>
            <a:ext cx="310896" cy="31089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signaling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4754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N2, SBI and N4 set everything up.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3977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23264F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4297680"/>
            <a:ext cx="310896" cy="31089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= the lab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4754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&amp; capture live on N3/N4.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2026-07-26T14:04:00Z</dcterms:created>
  <dcterms:modified xsi:type="dcterms:W3CDTF">2026-07-26T14:04:00Z</dcterms:modified>
</cp:coreProperties>
</file>