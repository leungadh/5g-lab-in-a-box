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47504" y="1609344"/>
            <a:ext cx="1280160" cy="82296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27664" y="2432304"/>
            <a:ext cx="-822960" cy="109728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3529584"/>
            <a:ext cx="1280160" cy="82296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47504" y="1609344"/>
            <a:ext cx="-182880" cy="320040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64624" y="4809744"/>
            <a:ext cx="1280160" cy="73152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84864" y="4352544"/>
            <a:ext cx="-640080" cy="118872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1463040"/>
            <a:ext cx="292608" cy="2926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2286000"/>
            <a:ext cx="292608" cy="292608"/>
          </a:xfrm>
          <a:prstGeom prst="ellipse">
            <a:avLst/>
          </a:prstGeom>
          <a:solidFill>
            <a:srgbClr val="993C1D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0" y="3383280"/>
            <a:ext cx="292608" cy="292608"/>
          </a:xfrm>
          <a:prstGeom prst="ellipse">
            <a:avLst/>
          </a:prstGeom>
          <a:solidFill>
            <a:srgbClr val="6C6E80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0" y="4206240"/>
            <a:ext cx="292608" cy="292608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4663440"/>
            <a:ext cx="292608" cy="2926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0" y="5394960"/>
            <a:ext cx="292608" cy="292608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WALKTHROUGH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103120"/>
            <a:ext cx="8321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Attack Becomes a Detection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attack-&amp;-detection diagram — the security loop, and the attacks it runs, in plain language.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diagram has two parts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2057400"/>
          </a:xfrm>
          <a:prstGeom prst="roundRect">
            <a:avLst>
              <a:gd name="adj" fmla="val 4000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20574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strip  —  </a:t>
            </a:r>
            <a:pPr indent="0" marL="0">
              <a:buNone/>
            </a:pPr>
            <a:r>
              <a:rPr lang="en-US" sz="19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loop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6517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assembly line, left to right: make bad traffic → let it hit the core → record it → boil it down to numbers → let a model flag it. Follow the arrow labels: inject, tap, parse, score.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10881360" cy="2057400"/>
          </a:xfrm>
          <a:prstGeom prst="roundRect">
            <a:avLst>
              <a:gd name="adj" fmla="val 4000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43434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table  —  </a:t>
            </a:r>
            <a:pPr indent="0" marL="0">
              <a:buNone/>
            </a:pPr>
            <a:r>
              <a:rPr lang="en-US" sz="19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attacks themselves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37360" y="49377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specific attacks. Each row reads: what it is → which pipe it hits → what it does → the number that gives it away. The colored bar shows the pipe: green N3, blue N4, purple N2.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Loop — Walkthrough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&amp; detection flow</a:t>
            </a:r>
            <a:endParaRPr lang="en-US" sz="3000" dirty="0"/>
          </a:p>
        </p:txBody>
      </p:sp>
      <p:pic>
        <p:nvPicPr>
          <p:cNvPr id="4" name="Image 0" descr="/sessions/vibrant-gallant-lamport/mnt/5g-lab-in-a-box/docs/diagrams/5g-attack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88" y="1417320"/>
            <a:ext cx="6665976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Loop — Walkthrough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STRIP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loop — five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22860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D85A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attacks/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" y="29443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malformed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flood traffic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96312" y="2971800"/>
            <a:ext cx="338328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267712" y="26060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71216" y="22860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D8DCEA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1693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 core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16936" y="29443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0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core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0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attacked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2312" y="2971800"/>
            <a:ext cx="338328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553712" y="26060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57216" y="22860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993C1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0293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capture/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2936" y="29443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N3 + N4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files (pcaps)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68312" y="2971800"/>
            <a:ext cx="338328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839712" y="26060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43216" y="22860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 w="12700">
            <a:solidFill>
              <a:srgbClr val="D8DCEA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8893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extract_features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88936" y="29443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0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each window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0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to numbers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54312" y="2971800"/>
            <a:ext cx="338328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125712" y="26060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29216" y="22860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C9E7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7493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→ ALERT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74936" y="29443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window,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algn="ctr" indent="0" marL="0">
              <a:buNone/>
            </a:pPr>
            <a:r>
              <a:rPr lang="en-US" sz="16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bad traffic → let it hit the core → record it → turn it into numbers → let a model catch it.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Loop — Walkthrough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CLEVER 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“Labeled by construction”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a detector you need traffic tagged as “normal” or “attack.” Getting those labels is usually the hard part.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4892040" cy="3017520"/>
          </a:xfrm>
          <a:prstGeom prst="roundRect">
            <a:avLst>
              <a:gd name="adj" fmla="val 3030"/>
            </a:avLst>
          </a:prstGeom>
          <a:solidFill>
            <a:srgbClr val="FBEDE7"/>
          </a:solidFill>
          <a:ln w="15875">
            <a:solidFill>
              <a:srgbClr val="D85A30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651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usual way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88720" y="32918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hunts through millions of recorded packets and hand-tags which ones were attacks. Slow, tedious, and error-prone — and public datasets are scarce.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92240" y="2377440"/>
            <a:ext cx="4892040" cy="3017520"/>
          </a:xfrm>
          <a:prstGeom prst="roundRect">
            <a:avLst>
              <a:gd name="adj" fmla="val 3030"/>
            </a:avLst>
          </a:prstGeom>
          <a:solidFill>
            <a:srgbClr val="E5F5EF"/>
          </a:solidFill>
          <a:ln w="15875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2651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lab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58000" y="32918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launched the attacks, so it already knows exactly when each one ran. Every recorded window is stamped with the truth — automatically, for free.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806440" y="3611880"/>
            <a:ext cx="594360" cy="594360"/>
          </a:xfrm>
          <a:prstGeom prst="ellipse">
            <a:avLst/>
          </a:prstGeom>
          <a:solidFill>
            <a:srgbClr val="16183A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Loop — Walkthrough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ATTACKS ·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data tunnel (N3)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target N3 — the pipe carrying user data. One breaks packets; the other overwhelms with volume.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4892040" cy="3566160"/>
          </a:xfrm>
          <a:prstGeom prst="roundRect">
            <a:avLst>
              <a:gd name="adj" fmla="val 2564"/>
            </a:avLst>
          </a:prstGeom>
          <a:solidFill>
            <a:srgbClr val="E5F5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C9E7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· GTP-U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malformed GTP-U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gtpu/malformed_gtpu.py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packets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9776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deliberately malformed data — wrong type, garbage tunnel IDs, corrupted headers. Like mailing envelopes with nonsense addresses to jam the mailroom.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5120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decode-failure rate spikes  (gtpu_malformed_frac ↑)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2194560"/>
            <a:ext cx="4892040" cy="3566160"/>
          </a:xfrm>
          <a:prstGeom prst="roundRect">
            <a:avLst>
              <a:gd name="adj" fmla="val 2564"/>
            </a:avLst>
          </a:prstGeom>
          <a:solidFill>
            <a:srgbClr val="E5F5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1945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C9E74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· GTP-U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GTP-U tunnel flood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1228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gtpu/gtpu_flood.py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much, too fast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39776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broken — just a firehose of data down a single tunnel, far more than normal.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12280" y="5120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packet rate &amp; byte volume spike  (pkt_rate · bytes_total ↑)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Loop — Walkthrough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ATTACKS ·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control &amp; signaling (N4 · N2)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2C6FB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· PFCP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 session flood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68880" y="2039112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rapid burst of “start a new session” requests, trying to exhaust the core — like thousands slamming the front desk at once.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0" y="20391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session-request count spikes  (pfcp_est_req ↑)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584448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2C6FB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844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· PFCP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 association abuse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68880" y="3547872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 the standing handshake between the session-manager and the gateway, and fakes heartbeats.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354787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association / heartbeat counts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DEC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093208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6B63C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932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· NGAP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5577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storm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468880" y="5056632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the “greeter” (AMF) with endless join attempts, overwhelming the login desk.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50566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rate spikes  ·  (weakly caught today — N2 gap)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Loop — Walkthrough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safety rail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FBEDE7"/>
          </a:solidFill>
          <a:ln w="15875">
            <a:solidFill>
              <a:srgbClr val="D85A30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606040"/>
            <a:ext cx="822960" cy="82296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786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21945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 script refuses to run unless BOTH are true: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94560" y="2697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target is your own lab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loopback or private address, not a real network, and
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 explicitly confirm it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by passing the  --i-own-this-lab  flag.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deliberate friction, so the tooling can't be casually pointed at anything but the lab you control.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Loop — Walkthrough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your own core on purpose, record it on the N3/N4 pipes, turn the recording into numbers, and let a model learn to spot the attacks.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23264F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4206240"/>
            <a:ext cx="310896" cy="310896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→ tap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4663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hit N3/N4; capture records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38862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23264F"/>
          </a:solidFill>
          <a:ln w="19050">
            <a:solidFill>
              <a:srgbClr val="6C6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206240"/>
            <a:ext cx="310896" cy="310896"/>
          </a:xfrm>
          <a:prstGeom prst="ellipse">
            <a:avLst/>
          </a:prstGeom>
          <a:solidFill>
            <a:srgbClr val="6C6E8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score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4663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become numbers; a model flags them.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38862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23264F"/>
          </a:solidFill>
          <a:ln w="19050">
            <a:solidFill>
              <a:srgbClr val="1C9E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4206240"/>
            <a:ext cx="310896" cy="310896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for free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4663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knows the truth — perfect training data.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2026-07-26T14:09:27Z</dcterms:created>
  <dcterms:modified xsi:type="dcterms:W3CDTF">2026-07-26T14:09:27Z</dcterms:modified>
</cp:coreProperties>
</file>