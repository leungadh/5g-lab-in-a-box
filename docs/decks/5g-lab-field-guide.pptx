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7504" y="160934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27664" y="2432304"/>
            <a:ext cx="-822960" cy="109728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3529584"/>
            <a:ext cx="1280160" cy="82296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47504" y="1609344"/>
            <a:ext cx="-182880" cy="320040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4624" y="4809744"/>
            <a:ext cx="1280160" cy="7315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84864" y="4352544"/>
            <a:ext cx="-640080" cy="1188720"/>
          </a:xfrm>
          <a:prstGeom prst="line">
            <a:avLst/>
          </a:prstGeom>
          <a:noFill/>
          <a:ln w="15875">
            <a:solidFill>
              <a:srgbClr val="3A3E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46304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28600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3383280"/>
            <a:ext cx="292608" cy="292608"/>
          </a:xfrm>
          <a:prstGeom prst="ellipse">
            <a:avLst/>
          </a:prstGeom>
          <a:solidFill>
            <a:srgbClr val="6B63C9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4206240"/>
            <a:ext cx="292608" cy="2926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663440"/>
            <a:ext cx="292608" cy="292608"/>
          </a:xfrm>
          <a:prstGeom prst="ellipse">
            <a:avLst/>
          </a:prstGeom>
          <a:solidFill>
            <a:srgbClr val="2C6FB5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5394960"/>
            <a:ext cx="292608" cy="292608"/>
          </a:xfrm>
          <a:prstGeom prst="ellipse">
            <a:avLst/>
          </a:prstGeom>
          <a:solidFill>
            <a:srgbClr val="1C9E74"/>
          </a:solidFill>
          <a:ln w="12700">
            <a:solidFill>
              <a:srgbClr val="161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Core Lab-in-a-Box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5G network in software — the big picture, the architecture, and the security loop, all in plain language.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4937760"/>
            <a:ext cx="182880" cy="18288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Big picture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0440" y="4937760"/>
            <a:ext cx="182880" cy="18288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937760"/>
            <a:ext cx="182880" cy="18288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Security loop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parts, one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45059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5G network is, what we installed, and how a phone gets online — with the club-staff analogy.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640080" cy="64008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7452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architecture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74520" y="395935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components diagram: the colors, the RAN, the core's brains, the data gateway, and the two end-to-end journeys.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120640"/>
            <a:ext cx="640080" cy="64008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74520" y="4983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security loop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74520" y="546811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attack-flow diagram: inject → tap → parse → score, and the five attacks with their tells.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3063240"/>
            <a:ext cx="822960" cy="0"/>
          </a:xfrm>
          <a:prstGeom prst="line">
            <a:avLst/>
          </a:prstGeom>
          <a:noFill/>
          <a:ln w="381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what's installed, and how it works.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this, really?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5G network is three things: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with a SIM, a cell tower, and a “core” in a data center that decides who gets on and routes their data. Normally that's rooms of expensive hardware spread across a city.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every piece is software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on one computer, talking to each other exactly the way the real hardware would.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DECFA"/>
          </a:solidFill>
          <a:ln w="19050">
            <a:solidFill>
              <a:srgbClr val="6B63C9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2130552"/>
            <a:ext cx="457200" cy="45720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8288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235440" y="2907792"/>
            <a:ext cx="0" cy="384048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32918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0" y="3593592"/>
            <a:ext cx="457200" cy="45720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2918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35440" y="4370832"/>
            <a:ext cx="0" cy="384048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47548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5F5E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5056632"/>
            <a:ext cx="457200" cy="45720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47548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INSTALLED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DEC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02920" cy="50292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7099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UERANSIM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phone &amp; the tower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that simulates both a handset and a 5G radio. No SIM cards, no hardware — it exchanges the same messages a real phone and tower would.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099816"/>
            <a:ext cx="502920" cy="50292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916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Open5GS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core “brains” — about a dozen containers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2644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staff of a members' club: one checks your SIM, one registers you, one opens your session, one enforces the rules, a directory lets them find each other.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06824"/>
            <a:ext cx="502920" cy="50292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1239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data gateway — runs on the host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4714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doorway your actual traffic flows through on its way out. Runs directly on the machine (our workaround for a kernel quirk).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513832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53309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attack &amp; capture — the whole point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56784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malformed or flood traffic on the core's internal pipes, record it, and train a model to tell normal from malicious.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 phone onto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0452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6" name="Text 4"/>
          <p:cNvSpPr/>
          <p:nvPr/>
        </p:nvSpPr>
        <p:spPr>
          <a:xfrm>
            <a:off x="133045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tower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4328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2444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1" name="Text 9"/>
          <p:cNvSpPr/>
          <p:nvPr/>
        </p:nvSpPr>
        <p:spPr>
          <a:xfrm>
            <a:off x="3552444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53512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SIM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75504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68312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06056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6428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1" name="Text 19"/>
          <p:cNvSpPr/>
          <p:nvPr/>
        </p:nvSpPr>
        <p:spPr>
          <a:xfrm>
            <a:off x="7996428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97496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session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90304" y="2697480"/>
            <a:ext cx="219456" cy="0"/>
          </a:xfrm>
          <a:prstGeom prst="line">
            <a:avLst/>
          </a:prstGeom>
          <a:noFill/>
          <a:ln w="25400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28048" y="192024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2F3F7"/>
          </a:solidFill>
          <a:ln w="12700">
            <a:solidFill>
              <a:srgbClr val="E1E3EE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18420" y="2121408"/>
            <a:ext cx="585216" cy="58521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8420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19488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IP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617720"/>
            <a:ext cx="457200" cy="45720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45920" y="429768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lab this fully works.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phone registered, authenticated, opened a session, and was assigned the address 10.45.0.2 — a working connection through the core.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3383280"/>
          </a:xfrm>
          <a:prstGeom prst="roundRect">
            <a:avLst>
              <a:gd name="adj" fmla="val 2703"/>
            </a:avLst>
          </a:prstGeom>
          <a:solidFill>
            <a:srgbClr val="EDEC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822960" cy="82296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between the tower and the core — “let this phone on.”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07992" y="1691640"/>
            <a:ext cx="3502152" cy="3383280"/>
          </a:xfrm>
          <a:prstGeom prst="roundRect">
            <a:avLst>
              <a:gd name="adj" fmla="val 2703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2011680"/>
            <a:ext cx="822960" cy="822960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28032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tunnel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8032" y="352044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traffic, wrapped up and carried between tower and gateway.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8032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GTP-U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75904" y="1691640"/>
            <a:ext cx="3502152" cy="3383280"/>
          </a:xfrm>
          <a:prstGeom prst="roundRect">
            <a:avLst>
              <a:gd name="adj" fmla="val 270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95944" y="2011680"/>
            <a:ext cx="822960" cy="82296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8" name="Text 16"/>
          <p:cNvSpPr/>
          <p:nvPr/>
        </p:nvSpPr>
        <p:spPr>
          <a:xfrm>
            <a:off x="869594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95944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link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95944" y="352044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telling the data gateway how to handle each session.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95944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pipes — especially N3 and N4 — are exactly what the security tooling targets.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5F5EF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47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624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auth, PDU session, N4 &amp; N3 all verified end-to-end.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5F5EF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47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10.45.0.2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624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connected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phone attached and got a working data session.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1FA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096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 + N4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012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User-plane and control-plane pipes carry live traffic to capture.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BEDE7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096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egress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host-networking quirk on a non-standard kernel; not needed for the lab work.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3063240"/>
            <a:ext cx="822960" cy="0"/>
          </a:xfrm>
          <a:prstGeom prst="line">
            <a:avLst/>
          </a:prstGeom>
          <a:noFill/>
          <a:ln w="381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components diagram.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COLORS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colored by what it carries. Learn these four and the whole picture reads itself.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15768"/>
            <a:ext cx="1371600" cy="0"/>
          </a:xfrm>
          <a:prstGeom prst="line">
            <a:avLst/>
          </a:prstGeom>
          <a:noFill/>
          <a:ln w="44450">
            <a:solidFill>
              <a:srgbClr val="1C9E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User-plane data  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traffic — web, video, everything you send and receive.  (N3, N6)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73552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703320"/>
            <a:ext cx="1371600" cy="0"/>
          </a:xfrm>
          <a:prstGeom prst="line">
            <a:avLst/>
          </a:prstGeom>
          <a:noFill/>
          <a:ln w="44450">
            <a:solidFill>
              <a:srgbClr val="2C6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273552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signaling  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talking to itself to set things up — no user data.  (N2, SBI)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690872"/>
            <a:ext cx="1371600" cy="0"/>
          </a:xfrm>
          <a:prstGeom prst="line">
            <a:avLst/>
          </a:prstGeom>
          <a:noFill/>
          <a:ln w="44450">
            <a:solidFill>
              <a:srgbClr val="2C6FB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743200" y="426110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PFCP  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control link: the core telling the data gateway how to run a session.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248656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678424"/>
            <a:ext cx="1371600" cy="0"/>
          </a:xfrm>
          <a:prstGeom prst="line">
            <a:avLst/>
          </a:prstGeom>
          <a:noFill/>
          <a:ln w="44450">
            <a:solidFill>
              <a:srgbClr val="D85A3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43200" y="5248656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tooling  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add-ons — generating attacks and recording traffic.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picture</a:t>
            </a:r>
            <a:endParaRPr lang="en-US" sz="3000" dirty="0"/>
          </a:p>
        </p:txBody>
      </p:sp>
      <p:pic>
        <p:nvPicPr>
          <p:cNvPr id="4" name="Image 0" descr="/sessions/vibrant-gallant-lamport/mnt/5g-lab-in-a-box/docs/diagrams/5g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371600"/>
            <a:ext cx="6620256" cy="4873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27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flows left → right: phone &amp; tower (RAN) → the core's brains → the data gateway (UPF) → the internet.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 — the phone &amp; the tower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= Radio Access Network. In the diagram this is the purple box on the far left. It holds two things a real network keeps miles apart — here both are simulated by one program.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phone does to get online starts here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flows rightward into the core. The blue line leaving the tower (N1/N2) is the “let this phone on” conversation.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DECFA"/>
          </a:solidFill>
          <a:ln w="19050">
            <a:solidFill>
              <a:srgbClr val="6B63C9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01000" y="2121408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8641080" y="1737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handset + SIM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464040" y="2971800"/>
            <a:ext cx="0" cy="457200"/>
          </a:xfrm>
          <a:prstGeom prst="line">
            <a:avLst/>
          </a:prstGeom>
          <a:noFill/>
          <a:ln w="25400">
            <a:solidFill>
              <a:srgbClr val="6B6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35204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DECFA"/>
          </a:solidFill>
          <a:ln w="19050">
            <a:solidFill>
              <a:srgbClr val="6B63C9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3904488"/>
            <a:ext cx="457200" cy="457200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pPr indent="0" marL="0">
              <a:buNone/>
            </a:pPr>
            <a:r>
              <a:rPr lang="en-US" sz="13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5G radio tower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N1/N2 to the 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CENTER ·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Plane — the brains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blue box: the decision-makers. Think of them as the staff of a members' club — each does one job, and they talk over web technology (the “SBI” line).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2377440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greeter / front desk —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from the tower; handles the phone joining and moving around.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74136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37413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 · UDM · UDR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3374136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 desk &amp; records —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SIM is genuine (authentication) and look up what it's allowed to 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70832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7083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4370832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organizer —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your internet session when you actually want to use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3675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· NSSF · NRF · SCP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536752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supporting staff — </a:t>
            </a:r>
            <a:pPr indent="0" marL="0"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data limits, network “slicing,” the internal directory, and message routing.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CENTER ·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UPF — the fast lane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box. Once the phone is approved, your data doesn't crawl through all that staff — it takes the express doorway straight through the UPF (User Plane Function).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touch it.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(N3) carries your data in from the tower, tunneled.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Blue-dashed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(N4) is the SMF telling it how to handle the session.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178308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E5F5E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38160" y="17830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organizer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09760" y="2944368"/>
            <a:ext cx="0" cy="685800"/>
          </a:xfrm>
          <a:prstGeom prst="line">
            <a:avLst/>
          </a:prstGeom>
          <a:noFill/>
          <a:ln w="25400">
            <a:solidFill>
              <a:srgbClr val="2C6FB5"/>
            </a:solidFill>
            <a:prstDash val="dash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6012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37033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C9E7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3703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gateway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0" y="4315968"/>
            <a:ext cx="1005840" cy="0"/>
          </a:xfrm>
          <a:prstGeom prst="line">
            <a:avLst/>
          </a:prstGeom>
          <a:noFill/>
          <a:ln w="38100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53796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N6 out to the internet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journeys,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diagram is really just these two paths. Trace them and you understand 5G.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 ·  the green path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3081528"/>
            <a:ext cx="502920" cy="0"/>
          </a:xfrm>
          <a:prstGeom prst="line">
            <a:avLst/>
          </a:prstGeom>
          <a:noFill/>
          <a:ln w="28575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063240" y="2715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0760" y="3081528"/>
            <a:ext cx="502920" cy="0"/>
          </a:xfrm>
          <a:prstGeom prst="line">
            <a:avLst/>
          </a:prstGeom>
          <a:noFill/>
          <a:ln w="28575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852160" y="2715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69680" y="3081528"/>
            <a:ext cx="502920" cy="0"/>
          </a:xfrm>
          <a:prstGeom prst="line">
            <a:avLst/>
          </a:prstGeom>
          <a:noFill/>
          <a:ln w="28575">
            <a:solidFill>
              <a:srgbClr val="1C9E7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641080" y="2715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2697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640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signaling  ·  the blue path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91840" y="5047488"/>
            <a:ext cx="502920" cy="0"/>
          </a:xfrm>
          <a:prstGeom prst="line">
            <a:avLst/>
          </a:prstGeom>
          <a:noFill/>
          <a:ln w="28575">
            <a:solidFill>
              <a:srgbClr val="2C6FB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63240" y="4681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8620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80760" y="5047488"/>
            <a:ext cx="502920" cy="0"/>
          </a:xfrm>
          <a:prstGeom prst="line">
            <a:avLst/>
          </a:prstGeom>
          <a:noFill/>
          <a:ln w="28575">
            <a:solidFill>
              <a:srgbClr val="2C6FB5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852160" y="4681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869680" y="5047488"/>
            <a:ext cx="502920" cy="0"/>
          </a:xfrm>
          <a:prstGeom prst="line">
            <a:avLst/>
          </a:prstGeom>
          <a:noFill/>
          <a:ln w="28575">
            <a:solidFill>
              <a:srgbClr val="2C6FB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641080" y="46817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418320" y="46634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C6FB5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6404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sets the phone up; green carries the data. Every other box supports one of these two.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THE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 security lab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coral box underneath hooks onto the two data-plane pipes — because N3 and N4 are exactly where a real attacker would strike.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46888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attacks/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B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“inject”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749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malformed or flood traffic at N3 and N4 — the realistic attack surface of a live 5G core.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4663440" cy="2651760"/>
          </a:xfrm>
          <a:prstGeom prst="roundRect">
            <a:avLst>
              <a:gd name="adj" fmla="val 3448"/>
            </a:avLst>
          </a:prstGeom>
          <a:solidFill>
            <a:srgbClr val="993C1D"/>
          </a:solidFill>
          <a:ln/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capture/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B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“tap”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749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everything crossing N3 and N4, turning it into labeled data to train an anomaly detector.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lab knows which attack is running, every capture is labeled automatically — clean training data.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3063240"/>
            <a:ext cx="822960" cy="0"/>
          </a:xfrm>
          <a:prstGeom prst="line">
            <a:avLst/>
          </a:prstGeom>
          <a:noFill/>
          <a:ln w="381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Security Loop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attack-flow diagram.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diagram has two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FBED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0574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strip  —  </a:t>
            </a:r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6517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assembly line, left to right: make bad traffic → let it hit the core → record it → boil it down to numbers → let a model flag it. Follow the arrow labels: inject, tap, parse, score.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43434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table  —  </a:t>
            </a:r>
            <a:pPr indent="0" marL="0">
              <a:buNone/>
            </a:pPr>
            <a:r>
              <a:rPr lang="en-US" sz="19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themselves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49377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specific attacks. Each row reads: what it is → which pipe it hits → what it does → the number that gives it away. The colored bar shows the pipe: green N3, blue N4, purple N2.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&amp; detection flow</a:t>
            </a:r>
            <a:endParaRPr lang="en-US" sz="3000" dirty="0"/>
          </a:p>
        </p:txBody>
      </p:sp>
      <p:pic>
        <p:nvPicPr>
          <p:cNvPr id="4" name="Image 0" descr="/sessions/vibrant-gallant-lamport/mnt/5g-lab-in-a-box/docs/diagrams/5g-attack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1417320"/>
            <a:ext cx="6665976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STRIP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loop — five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D85A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malformed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flood traffic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67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1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D8DCEA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16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16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core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attacked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53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993C1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02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2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N3 + N4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files (pcaps)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68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39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43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2F3F7"/>
          </a:solidFill>
          <a:ln w="12700">
            <a:solidFill>
              <a:srgbClr val="D8DCEA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extract_features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88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each window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0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numbers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54312" y="2971800"/>
            <a:ext cx="338328" cy="0"/>
          </a:xfrm>
          <a:prstGeom prst="line">
            <a:avLst/>
          </a:prstGeom>
          <a:noFill/>
          <a:ln w="28575">
            <a:solidFill>
              <a:srgbClr val="6C6E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25712" y="26060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29216" y="228600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C9E7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7493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→ ALERT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74936" y="29443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window,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3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ctr" indent="0" marL="0">
              <a:buNone/>
            </a:pPr>
            <a:r>
              <a:rPr lang="en-US" sz="16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bad traffic → let it hit the core → record it → turn it into numbers → let a model catch it.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CLEVER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“Labeled by construction”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a detector you need traffic tagged as “normal” or “attack.” Getting those labels is usually the hard part.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4892040" cy="3017520"/>
          </a:xfrm>
          <a:prstGeom prst="roundRect">
            <a:avLst>
              <a:gd name="adj" fmla="val 3030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usual way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8720" y="32918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hunts through millions of recorded packets and hand-tags which ones were attacks. Slow, tedious, and error-prone — and public datasets are scarce.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92240" y="2377440"/>
            <a:ext cx="4892040" cy="3017520"/>
          </a:xfrm>
          <a:prstGeom prst="roundRect">
            <a:avLst>
              <a:gd name="adj" fmla="val 3030"/>
            </a:avLst>
          </a:prstGeom>
          <a:solidFill>
            <a:srgbClr val="E5F5EF"/>
          </a:solidFill>
          <a:ln w="15875">
            <a:solidFill>
              <a:srgbClr val="1C9E74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9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lab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0" y="32918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launched the attacks, so it already knows exactly when each one ran. Every recorded window is stamped with the truth — automatically, for free.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806440" y="3611880"/>
            <a:ext cx="594360" cy="594360"/>
          </a:xfrm>
          <a:prstGeom prst="ellipse">
            <a:avLst/>
          </a:prstGeom>
          <a:solidFill>
            <a:srgbClr val="16183A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·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data tunnel (N3)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target N3 — the pipe carrying user data. One breaks packets; the other overwhelms with volume.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C9E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GTP-U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GTP-U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gtpu/malformed_gtpu.py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packets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9776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deliberately malformed data — wrong type, garbage tunnel IDs, corrupted headers. Like mailing envelopes with nonsense addresses to jam the mailroom.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5120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decode-failure rate spikes  (gtpu_malformed_frac ↑)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E5F5E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1945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C9E74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GTP-U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GTP-U tunnel flood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gtpu/gtpu_flood.py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much, too fast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9776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broken — just a firehose of data down a single tunnel, far more than normal.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12280" y="5120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packet rate &amp; byte volume spike  (pkt_rate · bytes_total ↑)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·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control &amp; signaling (N4 · N2)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2C6FB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PFCP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session flood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203911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 burst of “start a new session” requests, trying to exhaust the core — like thousands slamming the front desk at once.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20391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session-request count spikes  (pfcp_est_req ↑)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8444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2C6FB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844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PFCP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PFCP association abuse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354787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 the standing handshake between the session-manager and the gateway, and fakes heartbeats.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5478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association / heartbeat counts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EC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093208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6B63C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93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· NGAP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storm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68880" y="505663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the “greeter” (AMF) with endless join attempts, overwhelming the login desk.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50566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rate spikes  ·  (weakly caught today — N2 gap)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safety 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FBEDE7"/>
          </a:solidFill>
          <a:ln w="15875">
            <a:solidFill>
              <a:srgbClr val="D85A30"/>
            </a:solidFill>
            <a:prstDash val="solid"/>
          </a:ln>
          <a:effectLst>
            <a:outerShdw sx="100000" sy="100000" kx="0" ky="0" algn="bl" rotWithShape="0" blurRad="88900" dist="25400" dir="5400000">
              <a:srgbClr val="8A90A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606040"/>
            <a:ext cx="822960" cy="8229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786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21945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script refuses to run unless BOTH are true: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94560" y="269748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target is your own lab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loopback or private address, not a real network, and
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explicitly confirm it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2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by passing the  --i-own-this-lab  flag.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deliberate friction, so the tooling can't be casually pointed at anything but the lab you control.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Core Lab-in-a-Box · Field Guide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5G network you can attack, capture, and learn from — safely, on one machine.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3264F"/>
          </a:solidFill>
          <a:ln w="19050">
            <a:solidFill>
              <a:srgbClr val="6B6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6B63C9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4434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tower + core, all in software.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36576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3264F"/>
          </a:solidFill>
          <a:ln w="19050">
            <a:solidFill>
              <a:srgbClr val="2C6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3977640"/>
            <a:ext cx="310896" cy="310896"/>
          </a:xfrm>
          <a:prstGeom prst="ellipse">
            <a:avLst/>
          </a:prstGeom>
          <a:solidFill>
            <a:srgbClr val="2C6FB5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4434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carries data; blue sets it 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6576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23264F"/>
          </a:solidFill>
          <a:ln w="19050">
            <a:solidFill>
              <a:srgbClr val="1C9E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3977640"/>
            <a:ext cx="310896" cy="310896"/>
          </a:xfrm>
          <a:prstGeom prst="ellipse">
            <a:avLst/>
          </a:prstGeom>
          <a:solidFill>
            <a:srgbClr val="1C9E74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loop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4434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→ tap → parse → score; labeled for free.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2026-07-26T14:16:04Z</dcterms:created>
  <dcterms:modified xsi:type="dcterms:W3CDTF">2026-07-26T14:16:04Z</dcterms:modified>
</cp:coreProperties>
</file>