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this deck explains 5G network slicing from the concept, through what we built in the lab, to the demo that proves two slices are physically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Slicing turns one physical 5G network into several logical ones on shared hardware, each tuned and isolated. The identifier is the S-NSSAI (SST + optional SD). The highway/lanes analogy lands it for a general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services have opposite needs — broadband wants throughput, control wants latency, IoT wants scale. Slicing lets one network serve all three with isolation, which is both a reliability property and a monetization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trick: keep the control plane and RAN shared, but split the user plane so each slice has its own UPF/DNN/subnet. The NSSF decides which slice is allowed; the SMF steers the session to the matching UPF by DNN.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lab: one shared control plane and gNB, and two separate user planes — upf for slice A (internet, 10.45) and upf-iot for slice B (iot, 10.46). Two UEs, one per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changes turn a single-slice lab into two slices: AMF advertises SST2, NSSF maps both slices, SMF gains DNN-based UPF routing plus an info block advertising both, a new upf-iot on 10.46, a slice-2 subscriber, and a second UE. Everything is additive.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flow: the UE requests an S-NSSAI, the AMF checks with the NSSF and the subscription whether it's allowed, then an SMF is chosen for that slice and it routes to the matching UPF by DNN, which assigns the IP. The subscriber's allowed-slice data gates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both UEs attach through the same gNB and core, but land on different subnets — UE-A on 10.45 via upf, UE-B on 10.46 via upf-iot — and both reach the internet through their own UPF. Different addresses is the first visible sign of two slices.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of isolation: capturing on each UPF's ogstun while both UEs generated traffic, upf saw only 10.45.x and upf-iot saw only 10.46.x. Neither UPF ever saw the other slice's subnet — that's physical user-plane separation, not just different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we built and proved real slicing — and isolation is a security property, not just performance. It's the containment boundary that the MEC demo and the self-securing story build on: attack one slice, show the others stay clean, with the detector scoped per UPF.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9052560" y="-1554480"/>
            <a:ext cx="5303520" cy="5303520"/>
          </a:xfrm>
          <a:prstGeom prst="ellipse">
            <a:avLst/>
          </a:prstGeom>
          <a:solidFill>
            <a:srgbClr val="17284C"/>
          </a:solidFill>
          <a:ln/>
        </p:spPr>
      </p:sp>
      <p:sp>
        <p:nvSpPr>
          <p:cNvPr id="3" name="Text 1"/>
          <p:cNvSpPr/>
          <p:nvPr/>
        </p:nvSpPr>
        <p:spPr>
          <a:xfrm>
            <a:off x="0" y="0"/>
            <a:ext cx="10058400" cy="292608"/>
          </a:xfrm>
          <a:prstGeom prst="rect">
            <a:avLst/>
          </a:prstGeom>
          <a:noFill/>
          <a:ln/>
        </p:spPr>
        <p:txBody>
          <a:bodyPr wrap="square" rtlCol="0" anchor="ctr"/>
          <a:lstStyle/>
          <a:p>
            <a:pPr indent="0" marL="0">
              <a:buNone/>
            </a:pPr>
            <a:r>
              <a:rPr lang="en-US" sz="1200" b="1" spc="300" kern="0" dirty="0">
                <a:solidFill>
                  <a:srgbClr val="12B3A6"/>
                </a:solidFill>
                <a:latin typeface="Calibri" pitchFamily="34" charset="0"/>
                <a:ea typeface="Calibri" pitchFamily="34" charset="-122"/>
                <a:cs typeface="Calibri" pitchFamily="34" charset="-120"/>
              </a:rPr>
              <a:t>5G LAB-IN-A-BOX  ·  PHASE 2A</a:t>
            </a:r>
            <a:endParaRPr lang="en-US" sz="1200" dirty="0"/>
          </a:p>
        </p:txBody>
      </p:sp>
      <p:sp>
        <p:nvSpPr>
          <p:cNvPr id="4" name="Text 2"/>
          <p:cNvSpPr/>
          <p:nvPr/>
        </p:nvSpPr>
        <p:spPr>
          <a:xfrm>
            <a:off x="777240" y="1554480"/>
            <a:ext cx="10058400" cy="100584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Network Slicing in 5G</a:t>
            </a:r>
            <a:endParaRPr lang="en-US" sz="4800" dirty="0"/>
          </a:p>
        </p:txBody>
      </p:sp>
      <p:sp>
        <p:nvSpPr>
          <p:cNvPr id="5" name="Text 3"/>
          <p:cNvSpPr/>
          <p:nvPr/>
        </p:nvSpPr>
        <p:spPr>
          <a:xfrm>
            <a:off x="822960" y="2743200"/>
            <a:ext cx="9692640" cy="914400"/>
          </a:xfrm>
          <a:prstGeom prst="rect">
            <a:avLst/>
          </a:prstGeom>
          <a:noFill/>
          <a:ln/>
        </p:spPr>
        <p:txBody>
          <a:bodyPr wrap="square" rtlCol="0" anchor="ctr"/>
          <a:lstStyle/>
          <a:p>
            <a:pPr indent="0" marL="0">
              <a:lnSpc>
                <a:spcPts val="2400"/>
              </a:lnSpc>
              <a:buNone/>
            </a:pPr>
            <a:r>
              <a:rPr lang="en-US" sz="1700" dirty="0">
                <a:solidFill>
                  <a:srgbClr val="C7D4EA"/>
                </a:solidFill>
                <a:latin typeface="Calibri" pitchFamily="34" charset="0"/>
                <a:ea typeface="Calibri" pitchFamily="34" charset="-122"/>
                <a:cs typeface="Calibri" pitchFamily="34" charset="-120"/>
              </a:rPr>
              <a:t>One physical core, many isolated networks — what slicing is, what we built in the lab, and how we proved it works.</a:t>
            </a:r>
            <a:endParaRPr lang="en-US" sz="1700" dirty="0"/>
          </a:p>
        </p:txBody>
      </p:sp>
      <p:sp>
        <p:nvSpPr>
          <p:cNvPr id="6" name="Shape 4"/>
          <p:cNvSpPr/>
          <p:nvPr/>
        </p:nvSpPr>
        <p:spPr>
          <a:xfrm>
            <a:off x="822960" y="4297680"/>
            <a:ext cx="3017520" cy="1051560"/>
          </a:xfrm>
          <a:prstGeom prst="roundRect">
            <a:avLst>
              <a:gd name="adj" fmla="val 7826"/>
            </a:avLst>
          </a:prstGeom>
          <a:solidFill>
            <a:srgbClr val="17284C"/>
          </a:solidFill>
          <a:ln/>
          <a:effectLst>
            <a:outerShdw sx="100000" sy="100000" kx="0" ky="0" algn="bl" rotWithShape="0" blurRad="114300" dist="38100" dir="5400000">
              <a:srgbClr val="0B1220">
                <a:alpha val="15000"/>
              </a:srgbClr>
            </a:outerShdw>
          </a:effectLst>
        </p:spPr>
      </p:sp>
      <p:sp>
        <p:nvSpPr>
          <p:cNvPr id="7" name="Text 5"/>
          <p:cNvSpPr/>
          <p:nvPr/>
        </p:nvSpPr>
        <p:spPr>
          <a:xfrm>
            <a:off x="822960" y="4453128"/>
            <a:ext cx="3017520" cy="365760"/>
          </a:xfrm>
          <a:prstGeom prst="rect">
            <a:avLst/>
          </a:prstGeom>
          <a:noFill/>
          <a:ln/>
        </p:spPr>
        <p:txBody>
          <a:bodyPr wrap="square" lIns="0" tIns="0" rIns="0" bIns="0" rtlCol="0" anchor="ctr"/>
          <a:lstStyle/>
          <a:p>
            <a:pPr algn="ctr" indent="0" marL="0">
              <a:buNone/>
            </a:pPr>
            <a:r>
              <a:rPr lang="en-US" sz="1700" b="1" dirty="0">
                <a:solidFill>
                  <a:srgbClr val="12B3A6"/>
                </a:solidFill>
                <a:latin typeface="Cambria" pitchFamily="34" charset="0"/>
                <a:ea typeface="Cambria" pitchFamily="34" charset="-122"/>
                <a:cs typeface="Cambria" pitchFamily="34" charset="-120"/>
              </a:rPr>
              <a:t>2 SLICES</a:t>
            </a:r>
            <a:endParaRPr lang="en-US" sz="1700" dirty="0"/>
          </a:p>
        </p:txBody>
      </p:sp>
      <p:sp>
        <p:nvSpPr>
          <p:cNvPr id="8" name="Text 6"/>
          <p:cNvSpPr/>
          <p:nvPr/>
        </p:nvSpPr>
        <p:spPr>
          <a:xfrm>
            <a:off x="822960" y="4864608"/>
            <a:ext cx="3017520" cy="365760"/>
          </a:xfrm>
          <a:prstGeom prst="rect">
            <a:avLst/>
          </a:prstGeom>
          <a:noFill/>
          <a:ln/>
        </p:spPr>
        <p:txBody>
          <a:bodyPr wrap="square" lIns="0" tIns="0" rIns="0" bIns="0" rtlCol="0" anchor="ctr"/>
          <a:lstStyle/>
          <a:p>
            <a:pPr algn="ctr" indent="0" marL="0">
              <a:buNone/>
            </a:pPr>
            <a:r>
              <a:rPr lang="en-US" sz="1150" dirty="0">
                <a:solidFill>
                  <a:srgbClr val="AFBDD6"/>
                </a:solidFill>
                <a:latin typeface="Calibri" pitchFamily="34" charset="0"/>
                <a:ea typeface="Calibri" pitchFamily="34" charset="-122"/>
                <a:cs typeface="Calibri" pitchFamily="34" charset="-120"/>
              </a:rPr>
              <a:t>eMBB + IoT</a:t>
            </a:r>
            <a:endParaRPr lang="en-US" sz="1150" dirty="0"/>
          </a:p>
        </p:txBody>
      </p:sp>
      <p:sp>
        <p:nvSpPr>
          <p:cNvPr id="9" name="Shape 7"/>
          <p:cNvSpPr/>
          <p:nvPr/>
        </p:nvSpPr>
        <p:spPr>
          <a:xfrm>
            <a:off x="4023360" y="4297680"/>
            <a:ext cx="3017520" cy="1051560"/>
          </a:xfrm>
          <a:prstGeom prst="roundRect">
            <a:avLst>
              <a:gd name="adj" fmla="val 7826"/>
            </a:avLst>
          </a:prstGeom>
          <a:solidFill>
            <a:srgbClr val="17284C"/>
          </a:solidFill>
          <a:ln/>
          <a:effectLst>
            <a:outerShdw sx="100000" sy="100000" kx="0" ky="0" algn="bl" rotWithShape="0" blurRad="114300" dist="38100" dir="5400000">
              <a:srgbClr val="0B1220">
                <a:alpha val="15000"/>
              </a:srgbClr>
            </a:outerShdw>
          </a:effectLst>
        </p:spPr>
      </p:sp>
      <p:sp>
        <p:nvSpPr>
          <p:cNvPr id="10" name="Text 8"/>
          <p:cNvSpPr/>
          <p:nvPr/>
        </p:nvSpPr>
        <p:spPr>
          <a:xfrm>
            <a:off x="4023360" y="4453128"/>
            <a:ext cx="3017520" cy="365760"/>
          </a:xfrm>
          <a:prstGeom prst="rect">
            <a:avLst/>
          </a:prstGeom>
          <a:noFill/>
          <a:ln/>
        </p:spPr>
        <p:txBody>
          <a:bodyPr wrap="square" lIns="0" tIns="0" rIns="0" bIns="0" rtlCol="0" anchor="ctr"/>
          <a:lstStyle/>
          <a:p>
            <a:pPr algn="ctr" indent="0" marL="0">
              <a:buNone/>
            </a:pPr>
            <a:r>
              <a:rPr lang="en-US" sz="1700" b="1" dirty="0">
                <a:solidFill>
                  <a:srgbClr val="E0A419"/>
                </a:solidFill>
                <a:latin typeface="Cambria" pitchFamily="34" charset="0"/>
                <a:ea typeface="Cambria" pitchFamily="34" charset="-122"/>
                <a:cs typeface="Cambria" pitchFamily="34" charset="-120"/>
              </a:rPr>
              <a:t>2 UPFS</a:t>
            </a:r>
            <a:endParaRPr lang="en-US" sz="1700" dirty="0"/>
          </a:p>
        </p:txBody>
      </p:sp>
      <p:sp>
        <p:nvSpPr>
          <p:cNvPr id="11" name="Text 9"/>
          <p:cNvSpPr/>
          <p:nvPr/>
        </p:nvSpPr>
        <p:spPr>
          <a:xfrm>
            <a:off x="4023360" y="4864608"/>
            <a:ext cx="3017520" cy="365760"/>
          </a:xfrm>
          <a:prstGeom prst="rect">
            <a:avLst/>
          </a:prstGeom>
          <a:noFill/>
          <a:ln/>
        </p:spPr>
        <p:txBody>
          <a:bodyPr wrap="square" lIns="0" tIns="0" rIns="0" bIns="0" rtlCol="0" anchor="ctr"/>
          <a:lstStyle/>
          <a:p>
            <a:pPr algn="ctr" indent="0" marL="0">
              <a:buNone/>
            </a:pPr>
            <a:r>
              <a:rPr lang="en-US" sz="1150" dirty="0">
                <a:solidFill>
                  <a:srgbClr val="AFBDD6"/>
                </a:solidFill>
                <a:latin typeface="Calibri" pitchFamily="34" charset="0"/>
                <a:ea typeface="Calibri" pitchFamily="34" charset="-122"/>
                <a:cs typeface="Calibri" pitchFamily="34" charset="-120"/>
              </a:rPr>
              <a:t>separate user planes</a:t>
            </a:r>
            <a:endParaRPr lang="en-US" sz="1150" dirty="0"/>
          </a:p>
        </p:txBody>
      </p:sp>
      <p:sp>
        <p:nvSpPr>
          <p:cNvPr id="12" name="Shape 10"/>
          <p:cNvSpPr/>
          <p:nvPr/>
        </p:nvSpPr>
        <p:spPr>
          <a:xfrm>
            <a:off x="7223760" y="4297680"/>
            <a:ext cx="3017520" cy="1051560"/>
          </a:xfrm>
          <a:prstGeom prst="roundRect">
            <a:avLst>
              <a:gd name="adj" fmla="val 7826"/>
            </a:avLst>
          </a:prstGeom>
          <a:solidFill>
            <a:srgbClr val="17284C"/>
          </a:solidFill>
          <a:ln/>
          <a:effectLst>
            <a:outerShdw sx="100000" sy="100000" kx="0" ky="0" algn="bl" rotWithShape="0" blurRad="114300" dist="38100" dir="5400000">
              <a:srgbClr val="0B1220">
                <a:alpha val="15000"/>
              </a:srgbClr>
            </a:outerShdw>
          </a:effectLst>
        </p:spPr>
      </p:sp>
      <p:sp>
        <p:nvSpPr>
          <p:cNvPr id="13" name="Text 11"/>
          <p:cNvSpPr/>
          <p:nvPr/>
        </p:nvSpPr>
        <p:spPr>
          <a:xfrm>
            <a:off x="7223760" y="4453128"/>
            <a:ext cx="3017520" cy="365760"/>
          </a:xfrm>
          <a:prstGeom prst="rect">
            <a:avLst/>
          </a:prstGeom>
          <a:noFill/>
          <a:ln/>
        </p:spPr>
        <p:txBody>
          <a:bodyPr wrap="square" lIns="0" tIns="0" rIns="0" bIns="0" rtlCol="0" anchor="ctr"/>
          <a:lstStyle/>
          <a:p>
            <a:pPr algn="ctr" indent="0" marL="0">
              <a:buNone/>
            </a:pPr>
            <a:r>
              <a:rPr lang="en-US" sz="1700" b="1" dirty="0">
                <a:solidFill>
                  <a:srgbClr val="2D6CDF"/>
                </a:solidFill>
                <a:latin typeface="Cambria" pitchFamily="34" charset="0"/>
                <a:ea typeface="Cambria" pitchFamily="34" charset="-122"/>
                <a:cs typeface="Cambria" pitchFamily="34" charset="-120"/>
              </a:rPr>
              <a:t>ISOLATION</a:t>
            </a:r>
            <a:endParaRPr lang="en-US" sz="1700" dirty="0"/>
          </a:p>
        </p:txBody>
      </p:sp>
      <p:sp>
        <p:nvSpPr>
          <p:cNvPr id="14" name="Text 12"/>
          <p:cNvSpPr/>
          <p:nvPr/>
        </p:nvSpPr>
        <p:spPr>
          <a:xfrm>
            <a:off x="7223760" y="4864608"/>
            <a:ext cx="3017520" cy="365760"/>
          </a:xfrm>
          <a:prstGeom prst="rect">
            <a:avLst/>
          </a:prstGeom>
          <a:noFill/>
          <a:ln/>
        </p:spPr>
        <p:txBody>
          <a:bodyPr wrap="square" lIns="0" tIns="0" rIns="0" bIns="0" rtlCol="0" anchor="ctr"/>
          <a:lstStyle/>
          <a:p>
            <a:pPr algn="ctr" indent="0" marL="0">
              <a:buNone/>
            </a:pPr>
            <a:r>
              <a:rPr lang="en-US" sz="1150" dirty="0">
                <a:solidFill>
                  <a:srgbClr val="AFBDD6"/>
                </a:solidFill>
                <a:latin typeface="Calibri" pitchFamily="34" charset="0"/>
                <a:ea typeface="Calibri" pitchFamily="34" charset="-122"/>
                <a:cs typeface="Calibri" pitchFamily="34" charset="-120"/>
              </a:rPr>
              <a:t>proven by capture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292608"/>
          </a:xfrm>
          <a:prstGeom prst="rect">
            <a:avLst/>
          </a:prstGeom>
          <a:noFill/>
          <a:ln/>
        </p:spPr>
        <p:txBody>
          <a:bodyPr wrap="square" rtlCol="0" anchor="ctr"/>
          <a:lstStyle/>
          <a:p>
            <a:pPr indent="0" marL="0">
              <a:buNone/>
            </a:pPr>
            <a:r>
              <a:rPr lang="en-US" sz="1200" b="1" spc="300" kern="0" dirty="0">
                <a:solidFill>
                  <a:srgbClr val="2D6CDF"/>
                </a:solidFill>
                <a:latin typeface="Calibri" pitchFamily="34" charset="0"/>
                <a:ea typeface="Calibri" pitchFamily="34" charset="-122"/>
                <a:cs typeface="Calibri" pitchFamily="34" charset="-120"/>
              </a:rPr>
              <a:t>THE CONCEPT</a:t>
            </a:r>
            <a:endParaRPr lang="en-US" sz="1200" dirty="0"/>
          </a:p>
        </p:txBody>
      </p:sp>
      <p:sp>
        <p:nvSpPr>
          <p:cNvPr id="3" name="Text 1"/>
          <p:cNvSpPr/>
          <p:nvPr/>
        </p:nvSpPr>
        <p:spPr>
          <a:xfrm>
            <a:off x="822960" y="841248"/>
            <a:ext cx="1078992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What is network slicing?</a:t>
            </a:r>
            <a:endParaRPr lang="en-US" sz="3100" dirty="0"/>
          </a:p>
        </p:txBody>
      </p:sp>
      <p:sp>
        <p:nvSpPr>
          <p:cNvPr id="4" name="Text 2"/>
          <p:cNvSpPr/>
          <p:nvPr/>
        </p:nvSpPr>
        <p:spPr>
          <a:xfrm>
            <a:off x="868680" y="1828800"/>
            <a:ext cx="6400800" cy="457200"/>
          </a:xfrm>
          <a:prstGeom prst="rect">
            <a:avLst/>
          </a:prstGeom>
          <a:noFill/>
          <a:ln/>
        </p:spPr>
        <p:txBody>
          <a:bodyPr wrap="square" rtlCol="0" anchor="t"/>
          <a:lstStyle/>
          <a:p>
            <a:pPr marL="203200" indent="-203200">
              <a:spcAft>
                <a:spcPts val="1100"/>
              </a:spcAft>
              <a:buSzPct val="100000"/>
              <a:buChar char="•"/>
            </a:pPr>
            <a:r>
              <a:rPr lang="en-US" sz="1550" dirty="0">
                <a:solidFill>
                  <a:srgbClr val="1A2740"/>
                </a:solidFill>
                <a:latin typeface="Calibri" pitchFamily="34" charset="0"/>
                <a:ea typeface="Calibri" pitchFamily="34" charset="-122"/>
                <a:cs typeface="Calibri" pitchFamily="34" charset="-120"/>
              </a:rPr>
              <a:t>One physical 5G network partitioned into multiple independent logical networks — “slices” — that share the same hardware and RAN.</a:t>
            </a:r>
            <a:endParaRPr lang="en-US" sz="1550" dirty="0"/>
          </a:p>
          <a:p>
            <a:pPr marL="203200" indent="-203200">
              <a:spcAft>
                <a:spcPts val="1100"/>
              </a:spcAft>
              <a:buSzPct val="100000"/>
              <a:buChar char="•"/>
            </a:pPr>
            <a:r>
              <a:rPr lang="en-US" sz="1550" dirty="0">
                <a:solidFill>
                  <a:srgbClr val="1A2740"/>
                </a:solidFill>
                <a:latin typeface="Calibri" pitchFamily="34" charset="0"/>
                <a:ea typeface="Calibri" pitchFamily="34" charset="-122"/>
                <a:cs typeface="Calibri" pitchFamily="34" charset="-120"/>
              </a:rPr>
              <a:t>Each slice is tuned for a different purpose and is isolated from the others.</a:t>
            </a:r>
            <a:endParaRPr lang="en-US" sz="1550" dirty="0"/>
          </a:p>
          <a:p>
            <a:pPr marL="203200" indent="-203200">
              <a:spcAft>
                <a:spcPts val="1100"/>
              </a:spcAft>
              <a:buSzPct val="100000"/>
              <a:buChar char="•"/>
            </a:pPr>
            <a:r>
              <a:rPr lang="en-US" sz="1550" dirty="0">
                <a:solidFill>
                  <a:srgbClr val="1A2740"/>
                </a:solidFill>
                <a:latin typeface="Calibri" pitchFamily="34" charset="0"/>
                <a:ea typeface="Calibri" pitchFamily="34" charset="-122"/>
                <a:cs typeface="Calibri" pitchFamily="34" charset="-120"/>
              </a:rPr>
              <a:t>A slice is identified by its S-NSSAI = SST (slice/service type) + optional SD (differentiator).</a:t>
            </a:r>
            <a:endParaRPr lang="en-US" sz="1550" dirty="0"/>
          </a:p>
        </p:txBody>
      </p:sp>
      <p:sp>
        <p:nvSpPr>
          <p:cNvPr id="5" name="Shape 3"/>
          <p:cNvSpPr/>
          <p:nvPr/>
        </p:nvSpPr>
        <p:spPr>
          <a:xfrm>
            <a:off x="7635240" y="1828800"/>
            <a:ext cx="3703320" cy="3749040"/>
          </a:xfrm>
          <a:prstGeom prst="roundRect">
            <a:avLst>
              <a:gd name="adj" fmla="val 2469"/>
            </a:avLst>
          </a:prstGeom>
          <a:solidFill>
            <a:srgbClr val="E9F7F5"/>
          </a:solidFill>
          <a:ln/>
          <a:effectLst>
            <a:outerShdw sx="100000" sy="100000" kx="0" ky="0" algn="bl" rotWithShape="0" blurRad="114300" dist="38100" dir="5400000">
              <a:srgbClr val="0B1220">
                <a:alpha val="15000"/>
              </a:srgbClr>
            </a:outerShdw>
          </a:effectLst>
        </p:spPr>
      </p:sp>
      <p:sp>
        <p:nvSpPr>
          <p:cNvPr id="6" name="Text 4"/>
          <p:cNvSpPr/>
          <p:nvPr/>
        </p:nvSpPr>
        <p:spPr>
          <a:xfrm>
            <a:off x="7909560" y="2057400"/>
            <a:ext cx="3200400" cy="365760"/>
          </a:xfrm>
          <a:prstGeom prst="rect">
            <a:avLst/>
          </a:prstGeom>
          <a:noFill/>
          <a:ln/>
        </p:spPr>
        <p:txBody>
          <a:bodyPr wrap="square" rtlCol="0" anchor="ctr"/>
          <a:lstStyle/>
          <a:p>
            <a:pPr indent="0" marL="0">
              <a:buNone/>
            </a:pPr>
            <a:r>
              <a:rPr lang="en-US" sz="1400" b="1" dirty="0">
                <a:solidFill>
                  <a:srgbClr val="12B3A6"/>
                </a:solidFill>
                <a:latin typeface="Calibri" pitchFamily="34" charset="0"/>
                <a:ea typeface="Calibri" pitchFamily="34" charset="-122"/>
                <a:cs typeface="Calibri" pitchFamily="34" charset="-120"/>
              </a:rPr>
              <a:t>The analogy</a:t>
            </a:r>
            <a:endParaRPr lang="en-US" sz="1400" dirty="0"/>
          </a:p>
        </p:txBody>
      </p:sp>
      <p:sp>
        <p:nvSpPr>
          <p:cNvPr id="7" name="Text 5"/>
          <p:cNvSpPr/>
          <p:nvPr/>
        </p:nvSpPr>
        <p:spPr>
          <a:xfrm>
            <a:off x="7909560" y="2468880"/>
            <a:ext cx="3200400" cy="365760"/>
          </a:xfrm>
          <a:prstGeom prst="rect">
            <a:avLst/>
          </a:prstGeom>
          <a:noFill/>
          <a:ln/>
        </p:spPr>
        <p:txBody>
          <a:bodyPr wrap="square" lIns="0" tIns="0" rIns="0" bIns="0" rtlCol="0" anchor="ctr"/>
          <a:lstStyle/>
          <a:p>
            <a:pPr indent="0" marL="0">
              <a:buNone/>
            </a:pPr>
            <a:r>
              <a:rPr lang="en-US" sz="1350" dirty="0">
                <a:solidFill>
                  <a:srgbClr val="1A2740"/>
                </a:solidFill>
                <a:latin typeface="Calibri" pitchFamily="34" charset="0"/>
                <a:ea typeface="Calibri" pitchFamily="34" charset="-122"/>
                <a:cs typeface="Calibri" pitchFamily="34" charset="-120"/>
              </a:rPr>
              <a:t>One highway, several lanes:</a:t>
            </a:r>
            <a:endParaRPr lang="en-US" sz="1350" dirty="0"/>
          </a:p>
        </p:txBody>
      </p:sp>
      <p:sp>
        <p:nvSpPr>
          <p:cNvPr id="8" name="Shape 6"/>
          <p:cNvSpPr/>
          <p:nvPr/>
        </p:nvSpPr>
        <p:spPr>
          <a:xfrm>
            <a:off x="7955280" y="2926080"/>
            <a:ext cx="457200" cy="457200"/>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9" name="Text 7"/>
          <p:cNvSpPr/>
          <p:nvPr/>
        </p:nvSpPr>
        <p:spPr>
          <a:xfrm>
            <a:off x="7955280"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p:nvPr/>
        </p:nvSpPr>
        <p:spPr>
          <a:xfrm>
            <a:off x="8549640" y="2907792"/>
            <a:ext cx="2560320" cy="320040"/>
          </a:xfrm>
          <a:prstGeom prst="rect">
            <a:avLst/>
          </a:prstGeom>
          <a:noFill/>
          <a:ln/>
        </p:spPr>
        <p:txBody>
          <a:bodyPr wrap="square" lIns="0" tIns="0" rIns="0" bIns="0" rtlCol="0" anchor="ctr"/>
          <a:lstStyle/>
          <a:p>
            <a:pPr indent="0" marL="0">
              <a:buNone/>
            </a:pPr>
            <a:r>
              <a:rPr lang="en-US" sz="1350" b="1" dirty="0">
                <a:solidFill>
                  <a:srgbClr val="1A2740"/>
                </a:solidFill>
                <a:latin typeface="Calibri" pitchFamily="34" charset="0"/>
                <a:ea typeface="Calibri" pitchFamily="34" charset="-122"/>
                <a:cs typeface="Calibri" pitchFamily="34" charset="-120"/>
              </a:rPr>
              <a:t>express</a:t>
            </a:r>
            <a:endParaRPr lang="en-US" sz="1350" dirty="0"/>
          </a:p>
        </p:txBody>
      </p:sp>
      <p:sp>
        <p:nvSpPr>
          <p:cNvPr id="11" name="Text 9"/>
          <p:cNvSpPr/>
          <p:nvPr/>
        </p:nvSpPr>
        <p:spPr>
          <a:xfrm>
            <a:off x="8549640" y="3200400"/>
            <a:ext cx="2560320" cy="274320"/>
          </a:xfrm>
          <a:prstGeom prst="rect">
            <a:avLst/>
          </a:prstGeom>
          <a:noFill/>
          <a:ln/>
        </p:spPr>
        <p:txBody>
          <a:bodyPr wrap="square" lIns="0" tIns="0" rIns="0" bIns="0" rtlCol="0" anchor="ctr"/>
          <a:lstStyle/>
          <a:p>
            <a:pPr indent="0" marL="0">
              <a:buNone/>
            </a:pPr>
            <a:r>
              <a:rPr lang="en-US" sz="1100" dirty="0">
                <a:solidFill>
                  <a:srgbClr val="60708C"/>
                </a:solidFill>
                <a:latin typeface="Calibri" pitchFamily="34" charset="0"/>
                <a:ea typeface="Calibri" pitchFamily="34" charset="-122"/>
                <a:cs typeface="Calibri" pitchFamily="34" charset="-120"/>
              </a:rPr>
              <a:t>fast traffic (video)</a:t>
            </a:r>
            <a:endParaRPr lang="en-US" sz="1100" dirty="0"/>
          </a:p>
        </p:txBody>
      </p:sp>
      <p:sp>
        <p:nvSpPr>
          <p:cNvPr id="12" name="Shape 10"/>
          <p:cNvSpPr/>
          <p:nvPr/>
        </p:nvSpPr>
        <p:spPr>
          <a:xfrm>
            <a:off x="7955280" y="3749040"/>
            <a:ext cx="457200" cy="457200"/>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13" name="Text 11"/>
          <p:cNvSpPr/>
          <p:nvPr/>
        </p:nvSpPr>
        <p:spPr>
          <a:xfrm>
            <a:off x="7955280" y="3749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8549640" y="3730752"/>
            <a:ext cx="2560320" cy="320040"/>
          </a:xfrm>
          <a:prstGeom prst="rect">
            <a:avLst/>
          </a:prstGeom>
          <a:noFill/>
          <a:ln/>
        </p:spPr>
        <p:txBody>
          <a:bodyPr wrap="square" lIns="0" tIns="0" rIns="0" bIns="0" rtlCol="0" anchor="ctr"/>
          <a:lstStyle/>
          <a:p>
            <a:pPr indent="0" marL="0">
              <a:buNone/>
            </a:pPr>
            <a:r>
              <a:rPr lang="en-US" sz="1350" b="1" dirty="0">
                <a:solidFill>
                  <a:srgbClr val="1A2740"/>
                </a:solidFill>
                <a:latin typeface="Calibri" pitchFamily="34" charset="0"/>
                <a:ea typeface="Calibri" pitchFamily="34" charset="-122"/>
                <a:cs typeface="Calibri" pitchFamily="34" charset="-120"/>
              </a:rPr>
              <a:t>freight</a:t>
            </a:r>
            <a:endParaRPr lang="en-US" sz="1350" dirty="0"/>
          </a:p>
        </p:txBody>
      </p:sp>
      <p:sp>
        <p:nvSpPr>
          <p:cNvPr id="15" name="Text 13"/>
          <p:cNvSpPr/>
          <p:nvPr/>
        </p:nvSpPr>
        <p:spPr>
          <a:xfrm>
            <a:off x="8549640" y="4023360"/>
            <a:ext cx="2560320" cy="274320"/>
          </a:xfrm>
          <a:prstGeom prst="rect">
            <a:avLst/>
          </a:prstGeom>
          <a:noFill/>
          <a:ln/>
        </p:spPr>
        <p:txBody>
          <a:bodyPr wrap="square" lIns="0" tIns="0" rIns="0" bIns="0" rtlCol="0" anchor="ctr"/>
          <a:lstStyle/>
          <a:p>
            <a:pPr indent="0" marL="0">
              <a:buNone/>
            </a:pPr>
            <a:r>
              <a:rPr lang="en-US" sz="1100" dirty="0">
                <a:solidFill>
                  <a:srgbClr val="60708C"/>
                </a:solidFill>
                <a:latin typeface="Calibri" pitchFamily="34" charset="0"/>
                <a:ea typeface="Calibri" pitchFamily="34" charset="-122"/>
                <a:cs typeface="Calibri" pitchFamily="34" charset="-120"/>
              </a:rPr>
              <a:t>bulk / IoT sensors</a:t>
            </a:r>
            <a:endParaRPr lang="en-US" sz="1100" dirty="0"/>
          </a:p>
        </p:txBody>
      </p:sp>
      <p:sp>
        <p:nvSpPr>
          <p:cNvPr id="16" name="Shape 14"/>
          <p:cNvSpPr/>
          <p:nvPr/>
        </p:nvSpPr>
        <p:spPr>
          <a:xfrm>
            <a:off x="7955280" y="4572000"/>
            <a:ext cx="457200" cy="457200"/>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17" name="Text 15"/>
          <p:cNvSpPr/>
          <p:nvPr/>
        </p:nvSpPr>
        <p:spPr>
          <a:xfrm>
            <a:off x="7955280" y="4572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8549640" y="4553712"/>
            <a:ext cx="2560320" cy="320040"/>
          </a:xfrm>
          <a:prstGeom prst="rect">
            <a:avLst/>
          </a:prstGeom>
          <a:noFill/>
          <a:ln/>
        </p:spPr>
        <p:txBody>
          <a:bodyPr wrap="square" lIns="0" tIns="0" rIns="0" bIns="0" rtlCol="0" anchor="ctr"/>
          <a:lstStyle/>
          <a:p>
            <a:pPr indent="0" marL="0">
              <a:buNone/>
            </a:pPr>
            <a:r>
              <a:rPr lang="en-US" sz="1350" b="1" dirty="0">
                <a:solidFill>
                  <a:srgbClr val="1A2740"/>
                </a:solidFill>
                <a:latin typeface="Calibri" pitchFamily="34" charset="0"/>
                <a:ea typeface="Calibri" pitchFamily="34" charset="-122"/>
                <a:cs typeface="Calibri" pitchFamily="34" charset="-120"/>
              </a:rPr>
              <a:t>emergency</a:t>
            </a:r>
            <a:endParaRPr lang="en-US" sz="1350" dirty="0"/>
          </a:p>
        </p:txBody>
      </p:sp>
      <p:sp>
        <p:nvSpPr>
          <p:cNvPr id="19" name="Text 17"/>
          <p:cNvSpPr/>
          <p:nvPr/>
        </p:nvSpPr>
        <p:spPr>
          <a:xfrm>
            <a:off x="8549640" y="4846320"/>
            <a:ext cx="2560320" cy="274320"/>
          </a:xfrm>
          <a:prstGeom prst="rect">
            <a:avLst/>
          </a:prstGeom>
          <a:noFill/>
          <a:ln/>
        </p:spPr>
        <p:txBody>
          <a:bodyPr wrap="square" lIns="0" tIns="0" rIns="0" bIns="0" rtlCol="0" anchor="ctr"/>
          <a:lstStyle/>
          <a:p>
            <a:pPr indent="0" marL="0">
              <a:buNone/>
            </a:pPr>
            <a:r>
              <a:rPr lang="en-US" sz="1100" dirty="0">
                <a:solidFill>
                  <a:srgbClr val="60708C"/>
                </a:solidFill>
                <a:latin typeface="Calibri" pitchFamily="34" charset="0"/>
                <a:ea typeface="Calibri" pitchFamily="34" charset="-122"/>
                <a:cs typeface="Calibri" pitchFamily="34" charset="-120"/>
              </a:rPr>
              <a:t>low-latency control</a:t>
            </a:r>
            <a:endParaRPr lang="en-US" sz="1100" dirty="0"/>
          </a:p>
        </p:txBody>
      </p:sp>
      <p:sp>
        <p:nvSpPr>
          <p:cNvPr id="20" name="Text 18"/>
          <p:cNvSpPr/>
          <p:nvPr/>
        </p:nvSpPr>
        <p:spPr>
          <a:xfrm>
            <a:off x="7909560" y="5349240"/>
            <a:ext cx="3291840" cy="365760"/>
          </a:xfrm>
          <a:prstGeom prst="rect">
            <a:avLst/>
          </a:prstGeom>
          <a:noFill/>
          <a:ln/>
        </p:spPr>
        <p:txBody>
          <a:bodyPr wrap="square" rtlCol="0" anchor="ctr"/>
          <a:lstStyle/>
          <a:p>
            <a:pPr indent="0" marL="0">
              <a:buNone/>
            </a:pPr>
            <a:r>
              <a:rPr lang="en-US" sz="1150" i="1" dirty="0">
                <a:solidFill>
                  <a:srgbClr val="60708C"/>
                </a:solidFill>
                <a:latin typeface="Calibri" pitchFamily="34" charset="0"/>
                <a:ea typeface="Calibri" pitchFamily="34" charset="-122"/>
                <a:cs typeface="Calibri" pitchFamily="34" charset="-120"/>
              </a:rPr>
              <a:t>Same road, separated lanes — that's slicing.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292608"/>
          </a:xfrm>
          <a:prstGeom prst="rect">
            <a:avLst/>
          </a:prstGeom>
          <a:noFill/>
          <a:ln/>
        </p:spPr>
        <p:txBody>
          <a:bodyPr wrap="square" rtlCol="0" anchor="ctr"/>
          <a:lstStyle/>
          <a:p>
            <a:pPr indent="0" marL="0">
              <a:buNone/>
            </a:pPr>
            <a:r>
              <a:rPr lang="en-US" sz="1200" b="1" spc="300" kern="0" dirty="0">
                <a:solidFill>
                  <a:srgbClr val="E0A419"/>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822960" y="841248"/>
            <a:ext cx="1078992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Different traffic, different needs — on one network</a:t>
            </a:r>
            <a:endParaRPr lang="en-US" sz="3100" dirty="0"/>
          </a:p>
        </p:txBody>
      </p:sp>
      <p:sp>
        <p:nvSpPr>
          <p:cNvPr id="4" name="Shape 2"/>
          <p:cNvSpPr/>
          <p:nvPr/>
        </p:nvSpPr>
        <p:spPr>
          <a:xfrm>
            <a:off x="822960" y="1874520"/>
            <a:ext cx="3337560" cy="2194560"/>
          </a:xfrm>
          <a:prstGeom prst="roundRect">
            <a:avLst>
              <a:gd name="adj" fmla="val 4167"/>
            </a:avLst>
          </a:prstGeom>
          <a:solidFill>
            <a:srgbClr val="F1F5FB"/>
          </a:solidFill>
          <a:ln/>
          <a:effectLst>
            <a:outerShdw sx="100000" sy="100000" kx="0" ky="0" algn="bl" rotWithShape="0" blurRad="114300" dist="38100" dir="5400000">
              <a:srgbClr val="0B1220">
                <a:alpha val="15000"/>
              </a:srgbClr>
            </a:outerShdw>
          </a:effectLst>
        </p:spPr>
      </p:sp>
      <p:sp>
        <p:nvSpPr>
          <p:cNvPr id="5" name="Shape 3"/>
          <p:cNvSpPr/>
          <p:nvPr/>
        </p:nvSpPr>
        <p:spPr>
          <a:xfrm>
            <a:off x="1097280" y="2130552"/>
            <a:ext cx="566928" cy="566928"/>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6" name="Text 4"/>
          <p:cNvSpPr/>
          <p:nvPr/>
        </p:nvSpPr>
        <p:spPr>
          <a:xfrm>
            <a:off x="1097280" y="213055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a:t>
            </a:r>
            <a:endParaRPr lang="en-US" sz="1500" dirty="0"/>
          </a:p>
        </p:txBody>
      </p:sp>
      <p:sp>
        <p:nvSpPr>
          <p:cNvPr id="7" name="Text 5"/>
          <p:cNvSpPr/>
          <p:nvPr/>
        </p:nvSpPr>
        <p:spPr>
          <a:xfrm>
            <a:off x="1783080" y="2194560"/>
            <a:ext cx="2194560" cy="41148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eMBB</a:t>
            </a:r>
            <a:endParaRPr lang="en-US" sz="1500" dirty="0"/>
          </a:p>
        </p:txBody>
      </p:sp>
      <p:sp>
        <p:nvSpPr>
          <p:cNvPr id="8" name="Text 6"/>
          <p:cNvSpPr/>
          <p:nvPr/>
        </p:nvSpPr>
        <p:spPr>
          <a:xfrm>
            <a:off x="1115568" y="2880360"/>
            <a:ext cx="2743200" cy="457200"/>
          </a:xfrm>
          <a:prstGeom prst="rect">
            <a:avLst/>
          </a:prstGeom>
          <a:noFill/>
          <a:ln/>
        </p:spPr>
        <p:txBody>
          <a:bodyPr wrap="square" lIns="0" tIns="0" rIns="0" bIns="0" rtlCol="0" anchor="ctr"/>
          <a:lstStyle/>
          <a:p>
            <a:pPr indent="0" marL="0">
              <a:buNone/>
            </a:pPr>
            <a:r>
              <a:rPr lang="en-US" sz="1150" b="1" dirty="0">
                <a:solidFill>
                  <a:srgbClr val="12B3A6"/>
                </a:solidFill>
                <a:latin typeface="Calibri" pitchFamily="34" charset="0"/>
                <a:ea typeface="Calibri" pitchFamily="34" charset="-122"/>
                <a:cs typeface="Calibri" pitchFamily="34" charset="-120"/>
              </a:rPr>
              <a:t>Enhanced Mobile Broadband</a:t>
            </a:r>
            <a:endParaRPr lang="en-US" sz="1150" dirty="0"/>
          </a:p>
        </p:txBody>
      </p:sp>
      <p:sp>
        <p:nvSpPr>
          <p:cNvPr id="9" name="Text 7"/>
          <p:cNvSpPr/>
          <p:nvPr/>
        </p:nvSpPr>
        <p:spPr>
          <a:xfrm>
            <a:off x="1115568" y="3291840"/>
            <a:ext cx="2788920" cy="640080"/>
          </a:xfrm>
          <a:prstGeom prst="rect">
            <a:avLst/>
          </a:prstGeom>
          <a:noFill/>
          <a:ln/>
        </p:spPr>
        <p:txBody>
          <a:bodyPr wrap="square" lIns="0" tIns="0" rIns="0" bIns="0" rtlCol="0" anchor="ctr"/>
          <a:lstStyle/>
          <a:p>
            <a:pPr indent="0" marL="0">
              <a:lnSpc>
                <a:spcPts val="1600"/>
              </a:lnSpc>
              <a:buNone/>
            </a:pPr>
            <a:r>
              <a:rPr lang="en-US" sz="1250" dirty="0">
                <a:solidFill>
                  <a:srgbClr val="60708C"/>
                </a:solidFill>
                <a:latin typeface="Calibri" pitchFamily="34" charset="0"/>
                <a:ea typeface="Calibri" pitchFamily="34" charset="-122"/>
                <a:cs typeface="Calibri" pitchFamily="34" charset="-120"/>
              </a:rPr>
              <a:t>high throughput — video, AR/VR</a:t>
            </a:r>
            <a:endParaRPr lang="en-US" sz="1250" dirty="0"/>
          </a:p>
        </p:txBody>
      </p:sp>
      <p:sp>
        <p:nvSpPr>
          <p:cNvPr id="10" name="Shape 8"/>
          <p:cNvSpPr/>
          <p:nvPr/>
        </p:nvSpPr>
        <p:spPr>
          <a:xfrm>
            <a:off x="4434840" y="1874520"/>
            <a:ext cx="3337560" cy="2194560"/>
          </a:xfrm>
          <a:prstGeom prst="roundRect">
            <a:avLst>
              <a:gd name="adj" fmla="val 4167"/>
            </a:avLst>
          </a:prstGeom>
          <a:solidFill>
            <a:srgbClr val="F1F5FB"/>
          </a:solidFill>
          <a:ln/>
          <a:effectLst>
            <a:outerShdw sx="100000" sy="100000" kx="0" ky="0" algn="bl" rotWithShape="0" blurRad="114300" dist="38100" dir="5400000">
              <a:srgbClr val="0B1220">
                <a:alpha val="15000"/>
              </a:srgbClr>
            </a:outerShdw>
          </a:effectLst>
        </p:spPr>
      </p:sp>
      <p:sp>
        <p:nvSpPr>
          <p:cNvPr id="11" name="Shape 9"/>
          <p:cNvSpPr/>
          <p:nvPr/>
        </p:nvSpPr>
        <p:spPr>
          <a:xfrm>
            <a:off x="4709160" y="2130552"/>
            <a:ext cx="566928" cy="566928"/>
          </a:xfrm>
          <a:prstGeom prst="ellipse">
            <a:avLst/>
          </a:prstGeom>
          <a:solidFill>
            <a:srgbClr val="2D6CDF"/>
          </a:solidFill>
          <a:ln/>
          <a:effectLst>
            <a:outerShdw sx="100000" sy="100000" kx="0" ky="0" algn="bl" rotWithShape="0" blurRad="76200" dist="38100" dir="5400000">
              <a:srgbClr val="0B1220">
                <a:alpha val="20000"/>
              </a:srgbClr>
            </a:outerShdw>
          </a:effectLst>
        </p:spPr>
      </p:sp>
      <p:sp>
        <p:nvSpPr>
          <p:cNvPr id="12" name="Text 10"/>
          <p:cNvSpPr/>
          <p:nvPr/>
        </p:nvSpPr>
        <p:spPr>
          <a:xfrm>
            <a:off x="4709160" y="213055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U</a:t>
            </a:r>
            <a:endParaRPr lang="en-US" sz="1500" dirty="0"/>
          </a:p>
        </p:txBody>
      </p:sp>
      <p:sp>
        <p:nvSpPr>
          <p:cNvPr id="13" name="Text 11"/>
          <p:cNvSpPr/>
          <p:nvPr/>
        </p:nvSpPr>
        <p:spPr>
          <a:xfrm>
            <a:off x="5394960" y="2194560"/>
            <a:ext cx="2194560" cy="41148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URLLC</a:t>
            </a:r>
            <a:endParaRPr lang="en-US" sz="1500" dirty="0"/>
          </a:p>
        </p:txBody>
      </p:sp>
      <p:sp>
        <p:nvSpPr>
          <p:cNvPr id="14" name="Text 12"/>
          <p:cNvSpPr/>
          <p:nvPr/>
        </p:nvSpPr>
        <p:spPr>
          <a:xfrm>
            <a:off x="4727448" y="2880360"/>
            <a:ext cx="2743200" cy="457200"/>
          </a:xfrm>
          <a:prstGeom prst="rect">
            <a:avLst/>
          </a:prstGeom>
          <a:noFill/>
          <a:ln/>
        </p:spPr>
        <p:txBody>
          <a:bodyPr wrap="square" lIns="0" tIns="0" rIns="0" bIns="0" rtlCol="0" anchor="ctr"/>
          <a:lstStyle/>
          <a:p>
            <a:pPr indent="0" marL="0">
              <a:buNone/>
            </a:pPr>
            <a:r>
              <a:rPr lang="en-US" sz="1150" b="1" dirty="0">
                <a:solidFill>
                  <a:srgbClr val="2D6CDF"/>
                </a:solidFill>
                <a:latin typeface="Calibri" pitchFamily="34" charset="0"/>
                <a:ea typeface="Calibri" pitchFamily="34" charset="-122"/>
                <a:cs typeface="Calibri" pitchFamily="34" charset="-120"/>
              </a:rPr>
              <a:t>Ultra-Reliable Low Latency</a:t>
            </a:r>
            <a:endParaRPr lang="en-US" sz="1150" dirty="0"/>
          </a:p>
        </p:txBody>
      </p:sp>
      <p:sp>
        <p:nvSpPr>
          <p:cNvPr id="15" name="Text 13"/>
          <p:cNvSpPr/>
          <p:nvPr/>
        </p:nvSpPr>
        <p:spPr>
          <a:xfrm>
            <a:off x="4727448" y="3291840"/>
            <a:ext cx="2788920" cy="640080"/>
          </a:xfrm>
          <a:prstGeom prst="rect">
            <a:avLst/>
          </a:prstGeom>
          <a:noFill/>
          <a:ln/>
        </p:spPr>
        <p:txBody>
          <a:bodyPr wrap="square" lIns="0" tIns="0" rIns="0" bIns="0" rtlCol="0" anchor="ctr"/>
          <a:lstStyle/>
          <a:p>
            <a:pPr indent="0" marL="0">
              <a:lnSpc>
                <a:spcPts val="1600"/>
              </a:lnSpc>
              <a:buNone/>
            </a:pPr>
            <a:r>
              <a:rPr lang="en-US" sz="1250" dirty="0">
                <a:solidFill>
                  <a:srgbClr val="60708C"/>
                </a:solidFill>
                <a:latin typeface="Calibri" pitchFamily="34" charset="0"/>
                <a:ea typeface="Calibri" pitchFamily="34" charset="-122"/>
                <a:cs typeface="Calibri" pitchFamily="34" charset="-120"/>
              </a:rPr>
              <a:t>control, robotics, vehicles</a:t>
            </a:r>
            <a:endParaRPr lang="en-US" sz="1250" dirty="0"/>
          </a:p>
        </p:txBody>
      </p:sp>
      <p:sp>
        <p:nvSpPr>
          <p:cNvPr id="16" name="Shape 14"/>
          <p:cNvSpPr/>
          <p:nvPr/>
        </p:nvSpPr>
        <p:spPr>
          <a:xfrm>
            <a:off x="8046720" y="1874520"/>
            <a:ext cx="3337560" cy="2194560"/>
          </a:xfrm>
          <a:prstGeom prst="roundRect">
            <a:avLst>
              <a:gd name="adj" fmla="val 4167"/>
            </a:avLst>
          </a:prstGeom>
          <a:solidFill>
            <a:srgbClr val="F1F5FB"/>
          </a:solidFill>
          <a:ln/>
          <a:effectLst>
            <a:outerShdw sx="100000" sy="100000" kx="0" ky="0" algn="bl" rotWithShape="0" blurRad="114300" dist="38100" dir="5400000">
              <a:srgbClr val="0B1220">
                <a:alpha val="15000"/>
              </a:srgbClr>
            </a:outerShdw>
          </a:effectLst>
        </p:spPr>
      </p:sp>
      <p:sp>
        <p:nvSpPr>
          <p:cNvPr id="17" name="Shape 15"/>
          <p:cNvSpPr/>
          <p:nvPr/>
        </p:nvSpPr>
        <p:spPr>
          <a:xfrm>
            <a:off x="8321040" y="2130552"/>
            <a:ext cx="566928" cy="566928"/>
          </a:xfrm>
          <a:prstGeom prst="ellipse">
            <a:avLst/>
          </a:prstGeom>
          <a:solidFill>
            <a:srgbClr val="E0A419"/>
          </a:solidFill>
          <a:ln/>
          <a:effectLst>
            <a:outerShdw sx="100000" sy="100000" kx="0" ky="0" algn="bl" rotWithShape="0" blurRad="76200" dist="38100" dir="5400000">
              <a:srgbClr val="0B1220">
                <a:alpha val="20000"/>
              </a:srgbClr>
            </a:outerShdw>
          </a:effectLst>
        </p:spPr>
      </p:sp>
      <p:sp>
        <p:nvSpPr>
          <p:cNvPr id="18" name="Text 16"/>
          <p:cNvSpPr/>
          <p:nvPr/>
        </p:nvSpPr>
        <p:spPr>
          <a:xfrm>
            <a:off x="8321040" y="213055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a:t>
            </a:r>
            <a:endParaRPr lang="en-US" sz="1500" dirty="0"/>
          </a:p>
        </p:txBody>
      </p:sp>
      <p:sp>
        <p:nvSpPr>
          <p:cNvPr id="19" name="Text 17"/>
          <p:cNvSpPr/>
          <p:nvPr/>
        </p:nvSpPr>
        <p:spPr>
          <a:xfrm>
            <a:off x="9006840" y="2194560"/>
            <a:ext cx="2194560" cy="41148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mMTC / IoT</a:t>
            </a:r>
            <a:endParaRPr lang="en-US" sz="1500" dirty="0"/>
          </a:p>
        </p:txBody>
      </p:sp>
      <p:sp>
        <p:nvSpPr>
          <p:cNvPr id="20" name="Text 18"/>
          <p:cNvSpPr/>
          <p:nvPr/>
        </p:nvSpPr>
        <p:spPr>
          <a:xfrm>
            <a:off x="8339328" y="2880360"/>
            <a:ext cx="2743200" cy="457200"/>
          </a:xfrm>
          <a:prstGeom prst="rect">
            <a:avLst/>
          </a:prstGeom>
          <a:noFill/>
          <a:ln/>
        </p:spPr>
        <p:txBody>
          <a:bodyPr wrap="square" lIns="0" tIns="0" rIns="0" bIns="0" rtlCol="0" anchor="ctr"/>
          <a:lstStyle/>
          <a:p>
            <a:pPr indent="0" marL="0">
              <a:buNone/>
            </a:pPr>
            <a:r>
              <a:rPr lang="en-US" sz="1150" b="1" dirty="0">
                <a:solidFill>
                  <a:srgbClr val="E0A419"/>
                </a:solidFill>
                <a:latin typeface="Calibri" pitchFamily="34" charset="0"/>
                <a:ea typeface="Calibri" pitchFamily="34" charset="-122"/>
                <a:cs typeface="Calibri" pitchFamily="34" charset="-120"/>
              </a:rPr>
              <a:t>Massive Machine-Type Comms</a:t>
            </a:r>
            <a:endParaRPr lang="en-US" sz="1150" dirty="0"/>
          </a:p>
        </p:txBody>
      </p:sp>
      <p:sp>
        <p:nvSpPr>
          <p:cNvPr id="21" name="Text 19"/>
          <p:cNvSpPr/>
          <p:nvPr/>
        </p:nvSpPr>
        <p:spPr>
          <a:xfrm>
            <a:off x="8339328" y="3291840"/>
            <a:ext cx="2788920" cy="640080"/>
          </a:xfrm>
          <a:prstGeom prst="rect">
            <a:avLst/>
          </a:prstGeom>
          <a:noFill/>
          <a:ln/>
        </p:spPr>
        <p:txBody>
          <a:bodyPr wrap="square" lIns="0" tIns="0" rIns="0" bIns="0" rtlCol="0" anchor="ctr"/>
          <a:lstStyle/>
          <a:p>
            <a:pPr indent="0" marL="0">
              <a:lnSpc>
                <a:spcPts val="1600"/>
              </a:lnSpc>
              <a:buNone/>
            </a:pPr>
            <a:r>
              <a:rPr lang="en-US" sz="1250" dirty="0">
                <a:solidFill>
                  <a:srgbClr val="60708C"/>
                </a:solidFill>
                <a:latin typeface="Calibri" pitchFamily="34" charset="0"/>
                <a:ea typeface="Calibri" pitchFamily="34" charset="-122"/>
                <a:cs typeface="Calibri" pitchFamily="34" charset="-120"/>
              </a:rPr>
              <a:t>huge numbers of cheap sensors</a:t>
            </a:r>
            <a:endParaRPr lang="en-US" sz="1250" dirty="0"/>
          </a:p>
        </p:txBody>
      </p:sp>
      <p:sp>
        <p:nvSpPr>
          <p:cNvPr id="22" name="Shape 20"/>
          <p:cNvSpPr/>
          <p:nvPr/>
        </p:nvSpPr>
        <p:spPr>
          <a:xfrm>
            <a:off x="822960" y="4434840"/>
            <a:ext cx="10515600" cy="1371600"/>
          </a:xfrm>
          <a:prstGeom prst="roundRect">
            <a:avLst>
              <a:gd name="adj" fmla="val 8000"/>
            </a:avLst>
          </a:prstGeom>
          <a:solidFill>
            <a:srgbClr val="0E1B33"/>
          </a:solidFill>
          <a:ln/>
          <a:effectLst>
            <a:outerShdw sx="100000" sy="100000" kx="0" ky="0" algn="bl" rotWithShape="0" blurRad="114300" dist="38100" dir="5400000">
              <a:srgbClr val="0B1220">
                <a:alpha val="15000"/>
              </a:srgbClr>
            </a:outerShdw>
          </a:effectLst>
        </p:spPr>
      </p:sp>
      <p:sp>
        <p:nvSpPr>
          <p:cNvPr id="23" name="Text 21"/>
          <p:cNvSpPr/>
          <p:nvPr/>
        </p:nvSpPr>
        <p:spPr>
          <a:xfrm>
            <a:off x="1143000" y="4617720"/>
            <a:ext cx="4572000" cy="365760"/>
          </a:xfrm>
          <a:prstGeom prst="rect">
            <a:avLst/>
          </a:prstGeom>
          <a:noFill/>
          <a:ln/>
        </p:spPr>
        <p:txBody>
          <a:bodyPr wrap="square" rtlCol="0" anchor="ctr"/>
          <a:lstStyle/>
          <a:p>
            <a:pPr indent="0" marL="0">
              <a:buNone/>
            </a:pPr>
            <a:r>
              <a:rPr lang="en-US" sz="1300" b="1" dirty="0">
                <a:solidFill>
                  <a:srgbClr val="E0A419"/>
                </a:solidFill>
                <a:latin typeface="Calibri" pitchFamily="34" charset="0"/>
                <a:ea typeface="Calibri" pitchFamily="34" charset="-122"/>
                <a:cs typeface="Calibri" pitchFamily="34" charset="-120"/>
              </a:rPr>
              <a:t>The payoff: isolation</a:t>
            </a:r>
            <a:endParaRPr lang="en-US" sz="1300" dirty="0"/>
          </a:p>
        </p:txBody>
      </p:sp>
      <p:sp>
        <p:nvSpPr>
          <p:cNvPr id="24" name="Text 22"/>
          <p:cNvSpPr/>
          <p:nvPr/>
        </p:nvSpPr>
        <p:spPr>
          <a:xfrm>
            <a:off x="1143000" y="4983480"/>
            <a:ext cx="9966960" cy="731520"/>
          </a:xfrm>
          <a:prstGeom prst="rect">
            <a:avLst/>
          </a:prstGeom>
          <a:noFill/>
          <a:ln/>
        </p:spPr>
        <p:txBody>
          <a:bodyPr wrap="square" rtlCol="0" anchor="ctr"/>
          <a:lstStyle/>
          <a:p>
            <a:pPr indent="0" marL="0">
              <a:lnSpc>
                <a:spcPts val="2100"/>
              </a:lnSpc>
              <a:buNone/>
            </a:pPr>
            <a:r>
              <a:rPr lang="en-US" sz="1500" dirty="0">
                <a:solidFill>
                  <a:srgbClr val="FFFFFF"/>
                </a:solidFill>
                <a:latin typeface="Calibri" pitchFamily="34" charset="0"/>
                <a:ea typeface="Calibri" pitchFamily="34" charset="-122"/>
                <a:cs typeface="Calibri" pitchFamily="34" charset="-120"/>
              </a:rPr>
              <a:t>Each slice gets its own resources and treatment — so one slice's traffic surge, failure, or attack does not spill into another. Operators monetize this as differentiated, guaranteed services.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292608"/>
          </a:xfrm>
          <a:prstGeom prst="rect">
            <a:avLst/>
          </a:prstGeom>
          <a:noFill/>
          <a:ln/>
        </p:spPr>
        <p:txBody>
          <a:bodyPr wrap="square" rtlCol="0" anchor="ctr"/>
          <a:lstStyle/>
          <a:p>
            <a:pPr indent="0" marL="0">
              <a:buNone/>
            </a:pPr>
            <a:r>
              <a:rPr lang="en-US" sz="1200" b="1" spc="300" kern="0" dirty="0">
                <a:solidFill>
                  <a:srgbClr val="2D6CD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822960" y="841248"/>
            <a:ext cx="1078992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Shared brain, separate lanes</a:t>
            </a:r>
            <a:endParaRPr lang="en-US" sz="3100" dirty="0"/>
          </a:p>
        </p:txBody>
      </p:sp>
      <p:sp>
        <p:nvSpPr>
          <p:cNvPr id="4" name="Shape 2"/>
          <p:cNvSpPr/>
          <p:nvPr/>
        </p:nvSpPr>
        <p:spPr>
          <a:xfrm>
            <a:off x="822960" y="1874520"/>
            <a:ext cx="5120640" cy="2103120"/>
          </a:xfrm>
          <a:prstGeom prst="roundRect">
            <a:avLst>
              <a:gd name="adj" fmla="val 4348"/>
            </a:avLst>
          </a:prstGeom>
          <a:solidFill>
            <a:srgbClr val="E7EEF9"/>
          </a:solidFill>
          <a:ln/>
          <a:effectLst>
            <a:outerShdw sx="100000" sy="100000" kx="0" ky="0" algn="bl" rotWithShape="0" blurRad="114300" dist="38100" dir="5400000">
              <a:srgbClr val="0B1220">
                <a:alpha val="15000"/>
              </a:srgbClr>
            </a:outerShdw>
          </a:effectLst>
        </p:spPr>
      </p:sp>
      <p:sp>
        <p:nvSpPr>
          <p:cNvPr id="5" name="Text 3"/>
          <p:cNvSpPr/>
          <p:nvPr/>
        </p:nvSpPr>
        <p:spPr>
          <a:xfrm>
            <a:off x="1143000" y="2103120"/>
            <a:ext cx="4572000" cy="457200"/>
          </a:xfrm>
          <a:prstGeom prst="rect">
            <a:avLst/>
          </a:prstGeom>
          <a:noFill/>
          <a:ln/>
        </p:spPr>
        <p:txBody>
          <a:bodyPr wrap="square" lIns="0" tIns="0" rIns="0" bIns="0" rtlCol="0" anchor="ctr"/>
          <a:lstStyle/>
          <a:p>
            <a:pPr indent="0" marL="0">
              <a:buNone/>
            </a:pPr>
            <a:r>
              <a:rPr lang="en-US" sz="1700" b="1" dirty="0">
                <a:solidFill>
                  <a:srgbClr val="2D6CDF"/>
                </a:solidFill>
                <a:latin typeface="Calibri" pitchFamily="34" charset="0"/>
                <a:ea typeface="Calibri" pitchFamily="34" charset="-122"/>
                <a:cs typeface="Calibri" pitchFamily="34" charset="-120"/>
              </a:rPr>
              <a:t>Shared</a:t>
            </a:r>
            <a:endParaRPr lang="en-US" sz="1700" dirty="0"/>
          </a:p>
        </p:txBody>
      </p:sp>
      <p:sp>
        <p:nvSpPr>
          <p:cNvPr id="6" name="Text 4"/>
          <p:cNvSpPr/>
          <p:nvPr/>
        </p:nvSpPr>
        <p:spPr>
          <a:xfrm>
            <a:off x="1143000" y="2697480"/>
            <a:ext cx="4526280" cy="1097280"/>
          </a:xfrm>
          <a:prstGeom prst="rect">
            <a:avLst/>
          </a:prstGeom>
          <a:noFill/>
          <a:ln/>
        </p:spPr>
        <p:txBody>
          <a:bodyPr wrap="square" lIns="0" tIns="0" rIns="0" bIns="0" rtlCol="0" anchor="ctr"/>
          <a:lstStyle/>
          <a:p>
            <a:pPr indent="0" marL="0">
              <a:lnSpc>
                <a:spcPts val="1900"/>
              </a:lnSpc>
              <a:buNone/>
            </a:pPr>
            <a:r>
              <a:rPr lang="en-US" sz="1400" dirty="0">
                <a:solidFill>
                  <a:srgbClr val="1A2740"/>
                </a:solidFill>
                <a:latin typeface="Calibri" pitchFamily="34" charset="0"/>
                <a:ea typeface="Calibri" pitchFamily="34" charset="-122"/>
                <a:cs typeface="Calibri" pitchFamily="34" charset="-120"/>
              </a:rPr>
              <a:t>Control plane (AMF · SMF · NSSF) and the RAN are common to all slices — one set of signalling.</a:t>
            </a:r>
            <a:endParaRPr lang="en-US" sz="1400" dirty="0"/>
          </a:p>
        </p:txBody>
      </p:sp>
      <p:sp>
        <p:nvSpPr>
          <p:cNvPr id="7" name="Shape 5"/>
          <p:cNvSpPr/>
          <p:nvPr/>
        </p:nvSpPr>
        <p:spPr>
          <a:xfrm>
            <a:off x="6217920" y="1874520"/>
            <a:ext cx="5120640" cy="2103120"/>
          </a:xfrm>
          <a:prstGeom prst="roundRect">
            <a:avLst>
              <a:gd name="adj" fmla="val 4348"/>
            </a:avLst>
          </a:prstGeom>
          <a:solidFill>
            <a:srgbClr val="E9F7F5"/>
          </a:solidFill>
          <a:ln/>
          <a:effectLst>
            <a:outerShdw sx="100000" sy="100000" kx="0" ky="0" algn="bl" rotWithShape="0" blurRad="114300" dist="38100" dir="5400000">
              <a:srgbClr val="0B1220">
                <a:alpha val="15000"/>
              </a:srgbClr>
            </a:outerShdw>
          </a:effectLst>
        </p:spPr>
      </p:sp>
      <p:sp>
        <p:nvSpPr>
          <p:cNvPr id="8" name="Text 6"/>
          <p:cNvSpPr/>
          <p:nvPr/>
        </p:nvSpPr>
        <p:spPr>
          <a:xfrm>
            <a:off x="6537960" y="2103120"/>
            <a:ext cx="4572000" cy="457200"/>
          </a:xfrm>
          <a:prstGeom prst="rect">
            <a:avLst/>
          </a:prstGeom>
          <a:noFill/>
          <a:ln/>
        </p:spPr>
        <p:txBody>
          <a:bodyPr wrap="square" lIns="0" tIns="0" rIns="0" bIns="0" rtlCol="0" anchor="ctr"/>
          <a:lstStyle/>
          <a:p>
            <a:pPr indent="0" marL="0">
              <a:buNone/>
            </a:pPr>
            <a:r>
              <a:rPr lang="en-US" sz="1700" b="1" dirty="0">
                <a:solidFill>
                  <a:srgbClr val="12B3A6"/>
                </a:solidFill>
                <a:latin typeface="Calibri" pitchFamily="34" charset="0"/>
                <a:ea typeface="Calibri" pitchFamily="34" charset="-122"/>
                <a:cs typeface="Calibri" pitchFamily="34" charset="-120"/>
              </a:rPr>
              <a:t>Split</a:t>
            </a:r>
            <a:endParaRPr lang="en-US" sz="1700" dirty="0"/>
          </a:p>
        </p:txBody>
      </p:sp>
      <p:sp>
        <p:nvSpPr>
          <p:cNvPr id="9" name="Text 7"/>
          <p:cNvSpPr/>
          <p:nvPr/>
        </p:nvSpPr>
        <p:spPr>
          <a:xfrm>
            <a:off x="6537960" y="2697480"/>
            <a:ext cx="4526280" cy="1097280"/>
          </a:xfrm>
          <a:prstGeom prst="rect">
            <a:avLst/>
          </a:prstGeom>
          <a:noFill/>
          <a:ln/>
        </p:spPr>
        <p:txBody>
          <a:bodyPr wrap="square" lIns="0" tIns="0" rIns="0" bIns="0" rtlCol="0" anchor="ctr"/>
          <a:lstStyle/>
          <a:p>
            <a:pPr indent="0" marL="0">
              <a:lnSpc>
                <a:spcPts val="1900"/>
              </a:lnSpc>
              <a:buNone/>
            </a:pPr>
            <a:r>
              <a:rPr lang="en-US" sz="1400" dirty="0">
                <a:solidFill>
                  <a:srgbClr val="1A2740"/>
                </a:solidFill>
                <a:latin typeface="Calibri" pitchFamily="34" charset="0"/>
                <a:ea typeface="Calibri" pitchFamily="34" charset="-122"/>
                <a:cs typeface="Calibri" pitchFamily="34" charset="-120"/>
              </a:rPr>
              <a:t>The user plane is per-slice: each slice gets its own UPF, DNN, and IP subnet — physically separate data paths.</a:t>
            </a:r>
            <a:endParaRPr lang="en-US" sz="1400" dirty="0"/>
          </a:p>
        </p:txBody>
      </p:sp>
      <p:sp>
        <p:nvSpPr>
          <p:cNvPr id="10" name="Shape 8"/>
          <p:cNvSpPr/>
          <p:nvPr/>
        </p:nvSpPr>
        <p:spPr>
          <a:xfrm>
            <a:off x="822960" y="4251960"/>
            <a:ext cx="10515600" cy="1508760"/>
          </a:xfrm>
          <a:prstGeom prst="roundRect">
            <a:avLst>
              <a:gd name="adj" fmla="val 7273"/>
            </a:avLst>
          </a:prstGeom>
          <a:solidFill>
            <a:srgbClr val="0E1B33"/>
          </a:solidFill>
          <a:ln/>
          <a:effectLst>
            <a:outerShdw sx="100000" sy="100000" kx="0" ky="0" algn="bl" rotWithShape="0" blurRad="114300" dist="38100" dir="5400000">
              <a:srgbClr val="0B1220">
                <a:alpha val="15000"/>
              </a:srgbClr>
            </a:outerShdw>
          </a:effectLst>
        </p:spPr>
      </p:sp>
      <p:sp>
        <p:nvSpPr>
          <p:cNvPr id="11" name="Text 9"/>
          <p:cNvSpPr/>
          <p:nvPr/>
        </p:nvSpPr>
        <p:spPr>
          <a:xfrm>
            <a:off x="1143000" y="4434840"/>
            <a:ext cx="7315200" cy="365760"/>
          </a:xfrm>
          <a:prstGeom prst="rect">
            <a:avLst/>
          </a:prstGeom>
          <a:noFill/>
          <a:ln/>
        </p:spPr>
        <p:txBody>
          <a:bodyPr wrap="square" rtlCol="0" anchor="ctr"/>
          <a:lstStyle/>
          <a:p>
            <a:pPr indent="0" marL="0">
              <a:buNone/>
            </a:pPr>
            <a:r>
              <a:rPr lang="en-US" sz="1300" b="1" dirty="0">
                <a:solidFill>
                  <a:srgbClr val="12B3A6"/>
                </a:solidFill>
                <a:latin typeface="Calibri" pitchFamily="34" charset="0"/>
                <a:ea typeface="Calibri" pitchFamily="34" charset="-122"/>
                <a:cs typeface="Calibri" pitchFamily="34" charset="-120"/>
              </a:rPr>
              <a:t>The two functions that make it happen</a:t>
            </a:r>
            <a:endParaRPr lang="en-US" sz="1300" dirty="0"/>
          </a:p>
        </p:txBody>
      </p:sp>
      <p:sp>
        <p:nvSpPr>
          <p:cNvPr id="12" name="Text 10"/>
          <p:cNvSpPr/>
          <p:nvPr/>
        </p:nvSpPr>
        <p:spPr>
          <a:xfrm>
            <a:off x="1143000" y="4828032"/>
            <a:ext cx="9966960" cy="822960"/>
          </a:xfrm>
          <a:prstGeom prst="rect">
            <a:avLst/>
          </a:prstGeom>
          <a:noFill/>
          <a:ln/>
        </p:spPr>
        <p:txBody>
          <a:bodyPr wrap="square" rtlCol="0" anchor="ctr"/>
          <a:lstStyle/>
          <a:p>
            <a:pPr indent="0" marL="0">
              <a:lnSpc>
                <a:spcPts val="2100"/>
              </a:lnSpc>
              <a:buNone/>
            </a:pPr>
            <a:r>
              <a:rPr lang="en-US" sz="1500" dirty="0">
                <a:solidFill>
                  <a:srgbClr val="FFFFFF"/>
                </a:solidFill>
                <a:latin typeface="Calibri" pitchFamily="34" charset="0"/>
                <a:ea typeface="Calibri" pitchFamily="34" charset="-122"/>
                <a:cs typeface="Calibri" pitchFamily="34" charset="-120"/>
              </a:rPr>
              <a:t>NSSF (Network Slice Selection Function) resolves which slice a device may use;  the SMF then routes the session to the correct UPF by its DNN.  Result: the right user plane, per slice.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365760"/>
            <a:ext cx="10058400" cy="292608"/>
          </a:xfrm>
          <a:prstGeom prst="rect">
            <a:avLst/>
          </a:prstGeom>
          <a:noFill/>
          <a:ln/>
        </p:spPr>
        <p:txBody>
          <a:bodyPr wrap="square" rtlCol="0" anchor="ctr"/>
          <a:lstStyle/>
          <a:p>
            <a:pPr indent="0" marL="0">
              <a:buNone/>
            </a:pPr>
            <a:r>
              <a:rPr lang="en-US" sz="1200" b="1" spc="300" kern="0" dirty="0">
                <a:solidFill>
                  <a:srgbClr val="12B3A6"/>
                </a:solidFill>
                <a:latin typeface="Calibri" pitchFamily="34" charset="0"/>
                <a:ea typeface="Calibri" pitchFamily="34" charset="-122"/>
                <a:cs typeface="Calibri" pitchFamily="34" charset="-120"/>
              </a:rPr>
              <a:t>OUR LAB</a:t>
            </a:r>
            <a:endParaRPr lang="en-US" sz="1200" dirty="0"/>
          </a:p>
        </p:txBody>
      </p:sp>
      <p:sp>
        <p:nvSpPr>
          <p:cNvPr id="3" name="Text 1"/>
          <p:cNvSpPr/>
          <p:nvPr/>
        </p:nvSpPr>
        <p:spPr>
          <a:xfrm>
            <a:off x="822960" y="685800"/>
            <a:ext cx="1115568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What we built: two slices, two user planes</a:t>
            </a:r>
            <a:endParaRPr lang="en-US" sz="3100" dirty="0"/>
          </a:p>
        </p:txBody>
      </p:sp>
      <p:pic>
        <p:nvPicPr>
          <p:cNvPr id="4" name="Image 0" descr="slice_arch.png">    </p:cNvPr>
          <p:cNvPicPr>
            <a:picLocks noChangeAspect="1"/>
          </p:cNvPicPr>
          <p:nvPr/>
        </p:nvPicPr>
        <p:blipFill>
          <a:blip r:embed="rId1"/>
          <a:stretch>
            <a:fillRect/>
          </a:stretch>
        </p:blipFill>
        <p:spPr>
          <a:xfrm>
            <a:off x="1371600" y="1371600"/>
            <a:ext cx="7406640" cy="4206240"/>
          </a:xfrm>
          <a:prstGeom prst="rect">
            <a:avLst/>
          </a:prstGeom>
        </p:spPr>
      </p:pic>
      <p:sp>
        <p:nvSpPr>
          <p:cNvPr id="5" name="Shape 2"/>
          <p:cNvSpPr/>
          <p:nvPr/>
        </p:nvSpPr>
        <p:spPr>
          <a:xfrm>
            <a:off x="8915400" y="1463040"/>
            <a:ext cx="2743200" cy="4069080"/>
          </a:xfrm>
          <a:prstGeom prst="roundRect">
            <a:avLst>
              <a:gd name="adj" fmla="val 3333"/>
            </a:avLst>
          </a:prstGeom>
          <a:solidFill>
            <a:srgbClr val="F1F5FB"/>
          </a:solidFill>
          <a:ln/>
          <a:effectLst>
            <a:outerShdw sx="100000" sy="100000" kx="0" ky="0" algn="bl" rotWithShape="0" blurRad="114300" dist="38100" dir="5400000">
              <a:srgbClr val="0B1220">
                <a:alpha val="15000"/>
              </a:srgbClr>
            </a:outerShdw>
          </a:effectLst>
        </p:spPr>
      </p:sp>
      <p:sp>
        <p:nvSpPr>
          <p:cNvPr id="6" name="Text 3"/>
          <p:cNvSpPr/>
          <p:nvPr/>
        </p:nvSpPr>
        <p:spPr>
          <a:xfrm>
            <a:off x="9098280" y="1627632"/>
            <a:ext cx="2468880" cy="365760"/>
          </a:xfrm>
          <a:prstGeom prst="rect">
            <a:avLst/>
          </a:prstGeom>
          <a:noFill/>
          <a:ln/>
        </p:spPr>
        <p:txBody>
          <a:bodyPr wrap="square" rtlCol="0" anchor="ctr"/>
          <a:lstStyle/>
          <a:p>
            <a:pPr indent="0" marL="0">
              <a:buNone/>
            </a:pPr>
            <a:r>
              <a:rPr lang="en-US" sz="1350" b="1" dirty="0">
                <a:solidFill>
                  <a:srgbClr val="1A2740"/>
                </a:solidFill>
                <a:latin typeface="Calibri" pitchFamily="34" charset="0"/>
                <a:ea typeface="Calibri" pitchFamily="34" charset="-122"/>
                <a:cs typeface="Calibri" pitchFamily="34" charset="-120"/>
              </a:rPr>
              <a:t>The two slices</a:t>
            </a:r>
            <a:endParaRPr lang="en-US" sz="1350" dirty="0"/>
          </a:p>
        </p:txBody>
      </p:sp>
      <p:sp>
        <p:nvSpPr>
          <p:cNvPr id="7" name="Shape 4"/>
          <p:cNvSpPr/>
          <p:nvPr/>
        </p:nvSpPr>
        <p:spPr>
          <a:xfrm>
            <a:off x="9098280" y="2057400"/>
            <a:ext cx="384048" cy="384048"/>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8" name="Text 5"/>
          <p:cNvSpPr/>
          <p:nvPr/>
        </p:nvSpPr>
        <p:spPr>
          <a:xfrm>
            <a:off x="9098280" y="2057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a:t>
            </a:r>
            <a:endParaRPr lang="en-US" sz="1200" dirty="0"/>
          </a:p>
        </p:txBody>
      </p:sp>
      <p:sp>
        <p:nvSpPr>
          <p:cNvPr id="9" name="Text 6"/>
          <p:cNvSpPr/>
          <p:nvPr/>
        </p:nvSpPr>
        <p:spPr>
          <a:xfrm>
            <a:off x="9555480" y="2039112"/>
            <a:ext cx="2011680" cy="320040"/>
          </a:xfrm>
          <a:prstGeom prst="rect">
            <a:avLst/>
          </a:prstGeom>
          <a:noFill/>
          <a:ln/>
        </p:spPr>
        <p:txBody>
          <a:bodyPr wrap="square" lIns="0" tIns="0" rIns="0" bIns="0" rtlCol="0" anchor="ctr"/>
          <a:lstStyle/>
          <a:p>
            <a:pPr indent="0" marL="0">
              <a:buNone/>
            </a:pPr>
            <a:r>
              <a:rPr lang="en-US" sz="1300" b="1" dirty="0">
                <a:solidFill>
                  <a:srgbClr val="1A2740"/>
                </a:solidFill>
                <a:latin typeface="Calibri" pitchFamily="34" charset="0"/>
                <a:ea typeface="Calibri" pitchFamily="34" charset="-122"/>
                <a:cs typeface="Calibri" pitchFamily="34" charset="-120"/>
              </a:rPr>
              <a:t>Slice A</a:t>
            </a:r>
            <a:endParaRPr lang="en-US" sz="1300" dirty="0"/>
          </a:p>
        </p:txBody>
      </p:sp>
      <p:sp>
        <p:nvSpPr>
          <p:cNvPr id="10" name="Text 7"/>
          <p:cNvSpPr/>
          <p:nvPr/>
        </p:nvSpPr>
        <p:spPr>
          <a:xfrm>
            <a:off x="9125712" y="2441448"/>
            <a:ext cx="2377440" cy="457200"/>
          </a:xfrm>
          <a:prstGeom prst="rect">
            <a:avLst/>
          </a:prstGeom>
          <a:noFill/>
          <a:ln/>
        </p:spPr>
        <p:txBody>
          <a:bodyPr wrap="square" rtlCol="0" anchor="t"/>
          <a:lstStyle/>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SST 1 · eMBB</a:t>
            </a:r>
            <a:endParaRPr lang="en-US" sz="1050" dirty="0"/>
          </a:p>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DNN internet</a:t>
            </a:r>
            <a:endParaRPr lang="en-US" sz="1050" dirty="0"/>
          </a:p>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10.45.0.0/16</a:t>
            </a:r>
            <a:endParaRPr lang="en-US" sz="1050" dirty="0"/>
          </a:p>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 upf</a:t>
            </a:r>
            <a:endParaRPr lang="en-US" sz="1050" dirty="0"/>
          </a:p>
        </p:txBody>
      </p:sp>
      <p:sp>
        <p:nvSpPr>
          <p:cNvPr id="11" name="Shape 8"/>
          <p:cNvSpPr/>
          <p:nvPr/>
        </p:nvSpPr>
        <p:spPr>
          <a:xfrm>
            <a:off x="9098280" y="3794760"/>
            <a:ext cx="384048" cy="384048"/>
          </a:xfrm>
          <a:prstGeom prst="ellipse">
            <a:avLst/>
          </a:prstGeom>
          <a:solidFill>
            <a:srgbClr val="E0A419"/>
          </a:solidFill>
          <a:ln/>
          <a:effectLst>
            <a:outerShdw sx="100000" sy="100000" kx="0" ky="0" algn="bl" rotWithShape="0" blurRad="76200" dist="38100" dir="5400000">
              <a:srgbClr val="0B1220">
                <a:alpha val="20000"/>
              </a:srgbClr>
            </a:outerShdw>
          </a:effectLst>
        </p:spPr>
      </p:sp>
      <p:sp>
        <p:nvSpPr>
          <p:cNvPr id="12" name="Text 9"/>
          <p:cNvSpPr/>
          <p:nvPr/>
        </p:nvSpPr>
        <p:spPr>
          <a:xfrm>
            <a:off x="9098280" y="37947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a:t>
            </a:r>
            <a:endParaRPr lang="en-US" sz="1200" dirty="0"/>
          </a:p>
        </p:txBody>
      </p:sp>
      <p:sp>
        <p:nvSpPr>
          <p:cNvPr id="13" name="Text 10"/>
          <p:cNvSpPr/>
          <p:nvPr/>
        </p:nvSpPr>
        <p:spPr>
          <a:xfrm>
            <a:off x="9555480" y="3776472"/>
            <a:ext cx="2011680" cy="320040"/>
          </a:xfrm>
          <a:prstGeom prst="rect">
            <a:avLst/>
          </a:prstGeom>
          <a:noFill/>
          <a:ln/>
        </p:spPr>
        <p:txBody>
          <a:bodyPr wrap="square" lIns="0" tIns="0" rIns="0" bIns="0" rtlCol="0" anchor="ctr"/>
          <a:lstStyle/>
          <a:p>
            <a:pPr indent="0" marL="0">
              <a:buNone/>
            </a:pPr>
            <a:r>
              <a:rPr lang="en-US" sz="1300" b="1" dirty="0">
                <a:solidFill>
                  <a:srgbClr val="1A2740"/>
                </a:solidFill>
                <a:latin typeface="Calibri" pitchFamily="34" charset="0"/>
                <a:ea typeface="Calibri" pitchFamily="34" charset="-122"/>
                <a:cs typeface="Calibri" pitchFamily="34" charset="-120"/>
              </a:rPr>
              <a:t>Slice B</a:t>
            </a:r>
            <a:endParaRPr lang="en-US" sz="1300" dirty="0"/>
          </a:p>
        </p:txBody>
      </p:sp>
      <p:sp>
        <p:nvSpPr>
          <p:cNvPr id="14" name="Text 11"/>
          <p:cNvSpPr/>
          <p:nvPr/>
        </p:nvSpPr>
        <p:spPr>
          <a:xfrm>
            <a:off x="9125712" y="4178808"/>
            <a:ext cx="2377440" cy="457200"/>
          </a:xfrm>
          <a:prstGeom prst="rect">
            <a:avLst/>
          </a:prstGeom>
          <a:noFill/>
          <a:ln/>
        </p:spPr>
        <p:txBody>
          <a:bodyPr wrap="square" rtlCol="0" anchor="t"/>
          <a:lstStyle/>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SST 2 · IoT</a:t>
            </a:r>
            <a:endParaRPr lang="en-US" sz="1050" dirty="0"/>
          </a:p>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DNN iot</a:t>
            </a:r>
            <a:endParaRPr lang="en-US" sz="1050" dirty="0"/>
          </a:p>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10.46.0.0/16</a:t>
            </a:r>
            <a:endParaRPr lang="en-US" sz="1050" dirty="0"/>
          </a:p>
          <a:p>
            <a:pPr marL="203200" indent="-203200">
              <a:spcAft>
                <a:spcPts val="300"/>
              </a:spcAft>
              <a:buSzPct val="100000"/>
              <a:buChar char="•"/>
            </a:pPr>
            <a:r>
              <a:rPr lang="en-US" sz="1050" dirty="0">
                <a:solidFill>
                  <a:srgbClr val="1A2740"/>
                </a:solidFill>
                <a:latin typeface="Calibri" pitchFamily="34" charset="0"/>
                <a:ea typeface="Calibri" pitchFamily="34" charset="-122"/>
                <a:cs typeface="Calibri" pitchFamily="34" charset="-120"/>
              </a:rPr>
              <a:t>→ upf-iot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292608"/>
          </a:xfrm>
          <a:prstGeom prst="rect">
            <a:avLst/>
          </a:prstGeom>
          <a:noFill/>
          <a:ln/>
        </p:spPr>
        <p:txBody>
          <a:bodyPr wrap="square" rtlCol="0" anchor="ctr"/>
          <a:lstStyle/>
          <a:p>
            <a:pPr indent="0" marL="0">
              <a:buNone/>
            </a:pPr>
            <a:r>
              <a:rPr lang="en-US" sz="1200" b="1" spc="300" kern="0" dirty="0">
                <a:solidFill>
                  <a:srgbClr val="2D6CDF"/>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822960" y="841248"/>
            <a:ext cx="1078992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What we configured to enable slice 2</a:t>
            </a:r>
            <a:endParaRPr lang="en-US" sz="3100" dirty="0"/>
          </a:p>
        </p:txBody>
      </p:sp>
      <p:sp>
        <p:nvSpPr>
          <p:cNvPr id="4" name="Shape 2"/>
          <p:cNvSpPr/>
          <p:nvPr/>
        </p:nvSpPr>
        <p:spPr>
          <a:xfrm>
            <a:off x="822960" y="1828800"/>
            <a:ext cx="5120640" cy="1143000"/>
          </a:xfrm>
          <a:prstGeom prst="roundRect">
            <a:avLst>
              <a:gd name="adj" fmla="val 8000"/>
            </a:avLst>
          </a:prstGeom>
          <a:solidFill>
            <a:srgbClr val="F1F5FB"/>
          </a:solidFill>
          <a:ln/>
          <a:effectLst>
            <a:outerShdw sx="100000" sy="100000" kx="0" ky="0" algn="bl" rotWithShape="0" blurRad="114300" dist="38100" dir="5400000">
              <a:srgbClr val="0B1220">
                <a:alpha val="15000"/>
              </a:srgbClr>
            </a:outerShdw>
          </a:effectLst>
        </p:spPr>
      </p:sp>
      <p:sp>
        <p:nvSpPr>
          <p:cNvPr id="5" name="Shape 3"/>
          <p:cNvSpPr/>
          <p:nvPr/>
        </p:nvSpPr>
        <p:spPr>
          <a:xfrm>
            <a:off x="1078992" y="2103120"/>
            <a:ext cx="566928" cy="566928"/>
          </a:xfrm>
          <a:prstGeom prst="ellipse">
            <a:avLst/>
          </a:prstGeom>
          <a:solidFill>
            <a:srgbClr val="2D6CDF"/>
          </a:solidFill>
          <a:ln/>
          <a:effectLst>
            <a:outerShdw sx="100000" sy="100000" kx="0" ky="0" algn="bl" rotWithShape="0" blurRad="76200" dist="38100" dir="5400000">
              <a:srgbClr val="0B1220">
                <a:alpha val="20000"/>
              </a:srgbClr>
            </a:outerShdw>
          </a:effectLst>
        </p:spPr>
      </p:sp>
      <p:sp>
        <p:nvSpPr>
          <p:cNvPr id="6" name="Text 4"/>
          <p:cNvSpPr/>
          <p:nvPr/>
        </p:nvSpPr>
        <p:spPr>
          <a:xfrm>
            <a:off x="1078992" y="2103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828800" y="2011680"/>
            <a:ext cx="384048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AMF</a:t>
            </a:r>
            <a:endParaRPr lang="en-US" sz="1500" dirty="0"/>
          </a:p>
        </p:txBody>
      </p:sp>
      <p:sp>
        <p:nvSpPr>
          <p:cNvPr id="8" name="Text 6"/>
          <p:cNvSpPr/>
          <p:nvPr/>
        </p:nvSpPr>
        <p:spPr>
          <a:xfrm>
            <a:off x="1828800" y="2395728"/>
            <a:ext cx="3977640" cy="502920"/>
          </a:xfrm>
          <a:prstGeom prst="rect">
            <a:avLst/>
          </a:prstGeom>
          <a:noFill/>
          <a:ln/>
        </p:spPr>
        <p:txBody>
          <a:bodyPr wrap="square" lIns="0" tIns="0" rIns="0" bIns="0" rtlCol="0" anchor="ctr"/>
          <a:lstStyle/>
          <a:p>
            <a:pPr indent="0" marL="0">
              <a:lnSpc>
                <a:spcPts val="1500"/>
              </a:lnSpc>
              <a:buNone/>
            </a:pPr>
            <a:r>
              <a:rPr lang="en-US" sz="1250" dirty="0">
                <a:solidFill>
                  <a:srgbClr val="60708C"/>
                </a:solidFill>
                <a:latin typeface="Calibri" pitchFamily="34" charset="0"/>
                <a:ea typeface="Calibri" pitchFamily="34" charset="-122"/>
                <a:cs typeface="Calibri" pitchFamily="34" charset="-120"/>
              </a:rPr>
              <a:t>advertise a second S-NSSAI (SST 2)</a:t>
            </a:r>
            <a:endParaRPr lang="en-US" sz="1250" dirty="0"/>
          </a:p>
        </p:txBody>
      </p:sp>
      <p:sp>
        <p:nvSpPr>
          <p:cNvPr id="9" name="Shape 7"/>
          <p:cNvSpPr/>
          <p:nvPr/>
        </p:nvSpPr>
        <p:spPr>
          <a:xfrm>
            <a:off x="6217920" y="1828800"/>
            <a:ext cx="5120640" cy="1143000"/>
          </a:xfrm>
          <a:prstGeom prst="roundRect">
            <a:avLst>
              <a:gd name="adj" fmla="val 8000"/>
            </a:avLst>
          </a:prstGeom>
          <a:solidFill>
            <a:srgbClr val="F1F5FB"/>
          </a:solidFill>
          <a:ln/>
          <a:effectLst>
            <a:outerShdw sx="100000" sy="100000" kx="0" ky="0" algn="bl" rotWithShape="0" blurRad="114300" dist="38100" dir="5400000">
              <a:srgbClr val="0B1220">
                <a:alpha val="15000"/>
              </a:srgbClr>
            </a:outerShdw>
          </a:effectLst>
        </p:spPr>
      </p:sp>
      <p:sp>
        <p:nvSpPr>
          <p:cNvPr id="10" name="Shape 8"/>
          <p:cNvSpPr/>
          <p:nvPr/>
        </p:nvSpPr>
        <p:spPr>
          <a:xfrm>
            <a:off x="6473952" y="2103120"/>
            <a:ext cx="566928" cy="566928"/>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11" name="Text 9"/>
          <p:cNvSpPr/>
          <p:nvPr/>
        </p:nvSpPr>
        <p:spPr>
          <a:xfrm>
            <a:off x="6473952" y="2103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223760" y="2011680"/>
            <a:ext cx="384048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NSSF</a:t>
            </a:r>
            <a:endParaRPr lang="en-US" sz="1500" dirty="0"/>
          </a:p>
        </p:txBody>
      </p:sp>
      <p:sp>
        <p:nvSpPr>
          <p:cNvPr id="13" name="Text 11"/>
          <p:cNvSpPr/>
          <p:nvPr/>
        </p:nvSpPr>
        <p:spPr>
          <a:xfrm>
            <a:off x="7223760" y="2395728"/>
            <a:ext cx="3977640" cy="502920"/>
          </a:xfrm>
          <a:prstGeom prst="rect">
            <a:avLst/>
          </a:prstGeom>
          <a:noFill/>
          <a:ln/>
        </p:spPr>
        <p:txBody>
          <a:bodyPr wrap="square" lIns="0" tIns="0" rIns="0" bIns="0" rtlCol="0" anchor="ctr"/>
          <a:lstStyle/>
          <a:p>
            <a:pPr indent="0" marL="0">
              <a:lnSpc>
                <a:spcPts val="1500"/>
              </a:lnSpc>
              <a:buNone/>
            </a:pPr>
            <a:r>
              <a:rPr lang="en-US" sz="1250" dirty="0">
                <a:solidFill>
                  <a:srgbClr val="60708C"/>
                </a:solidFill>
                <a:latin typeface="Calibri" pitchFamily="34" charset="0"/>
                <a:ea typeface="Calibri" pitchFamily="34" charset="-122"/>
                <a:cs typeface="Calibri" pitchFamily="34" charset="-120"/>
              </a:rPr>
              <a:t>map both slices to the NRF (slice selection)</a:t>
            </a:r>
            <a:endParaRPr lang="en-US" sz="1250" dirty="0"/>
          </a:p>
        </p:txBody>
      </p:sp>
      <p:sp>
        <p:nvSpPr>
          <p:cNvPr id="14" name="Shape 12"/>
          <p:cNvSpPr/>
          <p:nvPr/>
        </p:nvSpPr>
        <p:spPr>
          <a:xfrm>
            <a:off x="822960" y="3154680"/>
            <a:ext cx="5120640" cy="1143000"/>
          </a:xfrm>
          <a:prstGeom prst="roundRect">
            <a:avLst>
              <a:gd name="adj" fmla="val 8000"/>
            </a:avLst>
          </a:prstGeom>
          <a:solidFill>
            <a:srgbClr val="F1F5FB"/>
          </a:solidFill>
          <a:ln/>
          <a:effectLst>
            <a:outerShdw sx="100000" sy="100000" kx="0" ky="0" algn="bl" rotWithShape="0" blurRad="114300" dist="38100" dir="5400000">
              <a:srgbClr val="0B1220">
                <a:alpha val="15000"/>
              </a:srgbClr>
            </a:outerShdw>
          </a:effectLst>
        </p:spPr>
      </p:sp>
      <p:sp>
        <p:nvSpPr>
          <p:cNvPr id="15" name="Shape 13"/>
          <p:cNvSpPr/>
          <p:nvPr/>
        </p:nvSpPr>
        <p:spPr>
          <a:xfrm>
            <a:off x="1078992" y="3429000"/>
            <a:ext cx="566928" cy="566928"/>
          </a:xfrm>
          <a:prstGeom prst="ellipse">
            <a:avLst/>
          </a:prstGeom>
          <a:solidFill>
            <a:srgbClr val="E0A419"/>
          </a:solidFill>
          <a:ln/>
          <a:effectLst>
            <a:outerShdw sx="100000" sy="100000" kx="0" ky="0" algn="bl" rotWithShape="0" blurRad="76200" dist="38100" dir="5400000">
              <a:srgbClr val="0B1220">
                <a:alpha val="20000"/>
              </a:srgbClr>
            </a:outerShdw>
          </a:effectLst>
        </p:spPr>
      </p:sp>
      <p:sp>
        <p:nvSpPr>
          <p:cNvPr id="16" name="Text 14"/>
          <p:cNvSpPr/>
          <p:nvPr/>
        </p:nvSpPr>
        <p:spPr>
          <a:xfrm>
            <a:off x="1078992" y="34290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828800" y="3337560"/>
            <a:ext cx="384048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SMF</a:t>
            </a:r>
            <a:endParaRPr lang="en-US" sz="1500" dirty="0"/>
          </a:p>
        </p:txBody>
      </p:sp>
      <p:sp>
        <p:nvSpPr>
          <p:cNvPr id="18" name="Text 16"/>
          <p:cNvSpPr/>
          <p:nvPr/>
        </p:nvSpPr>
        <p:spPr>
          <a:xfrm>
            <a:off x="1828800" y="3721608"/>
            <a:ext cx="3977640" cy="502920"/>
          </a:xfrm>
          <a:prstGeom prst="rect">
            <a:avLst/>
          </a:prstGeom>
          <a:noFill/>
          <a:ln/>
        </p:spPr>
        <p:txBody>
          <a:bodyPr wrap="square" lIns="0" tIns="0" rIns="0" bIns="0" rtlCol="0" anchor="ctr"/>
          <a:lstStyle/>
          <a:p>
            <a:pPr indent="0" marL="0">
              <a:lnSpc>
                <a:spcPts val="1500"/>
              </a:lnSpc>
              <a:buNone/>
            </a:pPr>
            <a:r>
              <a:rPr lang="en-US" sz="1250" dirty="0">
                <a:solidFill>
                  <a:srgbClr val="60708C"/>
                </a:solidFill>
                <a:latin typeface="Calibri" pitchFamily="34" charset="0"/>
                <a:ea typeface="Calibri" pitchFamily="34" charset="-122"/>
                <a:cs typeface="Calibri" pitchFamily="34" charset="-120"/>
              </a:rPr>
              <a:t>two DNN-tagged UPFs + advertise both slices</a:t>
            </a:r>
            <a:endParaRPr lang="en-US" sz="1250" dirty="0"/>
          </a:p>
        </p:txBody>
      </p:sp>
      <p:sp>
        <p:nvSpPr>
          <p:cNvPr id="19" name="Shape 17"/>
          <p:cNvSpPr/>
          <p:nvPr/>
        </p:nvSpPr>
        <p:spPr>
          <a:xfrm>
            <a:off x="6217920" y="3154680"/>
            <a:ext cx="5120640" cy="1143000"/>
          </a:xfrm>
          <a:prstGeom prst="roundRect">
            <a:avLst>
              <a:gd name="adj" fmla="val 8000"/>
            </a:avLst>
          </a:prstGeom>
          <a:solidFill>
            <a:srgbClr val="F1F5FB"/>
          </a:solidFill>
          <a:ln/>
          <a:effectLst>
            <a:outerShdw sx="100000" sy="100000" kx="0" ky="0" algn="bl" rotWithShape="0" blurRad="114300" dist="38100" dir="5400000">
              <a:srgbClr val="0B1220">
                <a:alpha val="15000"/>
              </a:srgbClr>
            </a:outerShdw>
          </a:effectLst>
        </p:spPr>
      </p:sp>
      <p:sp>
        <p:nvSpPr>
          <p:cNvPr id="20" name="Shape 18"/>
          <p:cNvSpPr/>
          <p:nvPr/>
        </p:nvSpPr>
        <p:spPr>
          <a:xfrm>
            <a:off x="6473952" y="3429000"/>
            <a:ext cx="566928" cy="566928"/>
          </a:xfrm>
          <a:prstGeom prst="ellipse">
            <a:avLst/>
          </a:prstGeom>
          <a:solidFill>
            <a:srgbClr val="F96167"/>
          </a:solidFill>
          <a:ln/>
          <a:effectLst>
            <a:outerShdw sx="100000" sy="100000" kx="0" ky="0" algn="bl" rotWithShape="0" blurRad="76200" dist="38100" dir="5400000">
              <a:srgbClr val="0B1220">
                <a:alpha val="20000"/>
              </a:srgbClr>
            </a:outerShdw>
          </a:effectLst>
        </p:spPr>
      </p:sp>
      <p:sp>
        <p:nvSpPr>
          <p:cNvPr id="21" name="Text 19"/>
          <p:cNvSpPr/>
          <p:nvPr/>
        </p:nvSpPr>
        <p:spPr>
          <a:xfrm>
            <a:off x="6473952" y="34290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223760" y="3337560"/>
            <a:ext cx="384048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upf-iot</a:t>
            </a:r>
            <a:endParaRPr lang="en-US" sz="1500" dirty="0"/>
          </a:p>
        </p:txBody>
      </p:sp>
      <p:sp>
        <p:nvSpPr>
          <p:cNvPr id="23" name="Text 21"/>
          <p:cNvSpPr/>
          <p:nvPr/>
        </p:nvSpPr>
        <p:spPr>
          <a:xfrm>
            <a:off x="7223760" y="3721608"/>
            <a:ext cx="3977640" cy="502920"/>
          </a:xfrm>
          <a:prstGeom prst="rect">
            <a:avLst/>
          </a:prstGeom>
          <a:noFill/>
          <a:ln/>
        </p:spPr>
        <p:txBody>
          <a:bodyPr wrap="square" lIns="0" tIns="0" rIns="0" bIns="0" rtlCol="0" anchor="ctr"/>
          <a:lstStyle/>
          <a:p>
            <a:pPr indent="0" marL="0">
              <a:lnSpc>
                <a:spcPts val="1500"/>
              </a:lnSpc>
              <a:buNone/>
            </a:pPr>
            <a:r>
              <a:rPr lang="en-US" sz="1250" dirty="0">
                <a:solidFill>
                  <a:srgbClr val="60708C"/>
                </a:solidFill>
                <a:latin typeface="Calibri" pitchFamily="34" charset="0"/>
                <a:ea typeface="Calibri" pitchFamily="34" charset="-122"/>
                <a:cs typeface="Calibri" pitchFamily="34" charset="-120"/>
              </a:rPr>
              <a:t>new UPF: DNN iot, subnet 10.46.0.0/16</a:t>
            </a:r>
            <a:endParaRPr lang="en-US" sz="1250" dirty="0"/>
          </a:p>
        </p:txBody>
      </p:sp>
      <p:sp>
        <p:nvSpPr>
          <p:cNvPr id="24" name="Shape 22"/>
          <p:cNvSpPr/>
          <p:nvPr/>
        </p:nvSpPr>
        <p:spPr>
          <a:xfrm>
            <a:off x="822960" y="4480560"/>
            <a:ext cx="5120640" cy="1143000"/>
          </a:xfrm>
          <a:prstGeom prst="roundRect">
            <a:avLst>
              <a:gd name="adj" fmla="val 8000"/>
            </a:avLst>
          </a:prstGeom>
          <a:solidFill>
            <a:srgbClr val="F1F5FB"/>
          </a:solidFill>
          <a:ln/>
          <a:effectLst>
            <a:outerShdw sx="100000" sy="100000" kx="0" ky="0" algn="bl" rotWithShape="0" blurRad="114300" dist="38100" dir="5400000">
              <a:srgbClr val="0B1220">
                <a:alpha val="15000"/>
              </a:srgbClr>
            </a:outerShdw>
          </a:effectLst>
        </p:spPr>
      </p:sp>
      <p:sp>
        <p:nvSpPr>
          <p:cNvPr id="25" name="Shape 23"/>
          <p:cNvSpPr/>
          <p:nvPr/>
        </p:nvSpPr>
        <p:spPr>
          <a:xfrm>
            <a:off x="1078992" y="4754880"/>
            <a:ext cx="566928" cy="566928"/>
          </a:xfrm>
          <a:prstGeom prst="ellipse">
            <a:avLst/>
          </a:prstGeom>
          <a:solidFill>
            <a:srgbClr val="2FA36B"/>
          </a:solidFill>
          <a:ln/>
          <a:effectLst>
            <a:outerShdw sx="100000" sy="100000" kx="0" ky="0" algn="bl" rotWithShape="0" blurRad="76200" dist="38100" dir="5400000">
              <a:srgbClr val="0B1220">
                <a:alpha val="20000"/>
              </a:srgbClr>
            </a:outerShdw>
          </a:effectLst>
        </p:spPr>
      </p:sp>
      <p:sp>
        <p:nvSpPr>
          <p:cNvPr id="26" name="Text 24"/>
          <p:cNvSpPr/>
          <p:nvPr/>
        </p:nvSpPr>
        <p:spPr>
          <a:xfrm>
            <a:off x="1078992" y="475488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828800" y="4663440"/>
            <a:ext cx="384048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Subscriber</a:t>
            </a:r>
            <a:endParaRPr lang="en-US" sz="1500" dirty="0"/>
          </a:p>
        </p:txBody>
      </p:sp>
      <p:sp>
        <p:nvSpPr>
          <p:cNvPr id="28" name="Text 26"/>
          <p:cNvSpPr/>
          <p:nvPr/>
        </p:nvSpPr>
        <p:spPr>
          <a:xfrm>
            <a:off x="1828800" y="5047488"/>
            <a:ext cx="3977640" cy="502920"/>
          </a:xfrm>
          <a:prstGeom prst="rect">
            <a:avLst/>
          </a:prstGeom>
          <a:noFill/>
          <a:ln/>
        </p:spPr>
        <p:txBody>
          <a:bodyPr wrap="square" lIns="0" tIns="0" rIns="0" bIns="0" rtlCol="0" anchor="ctr"/>
          <a:lstStyle/>
          <a:p>
            <a:pPr indent="0" marL="0">
              <a:lnSpc>
                <a:spcPts val="1500"/>
              </a:lnSpc>
              <a:buNone/>
            </a:pPr>
            <a:r>
              <a:rPr lang="en-US" sz="1250" dirty="0">
                <a:solidFill>
                  <a:srgbClr val="60708C"/>
                </a:solidFill>
                <a:latin typeface="Calibri" pitchFamily="34" charset="0"/>
                <a:ea typeface="Calibri" pitchFamily="34" charset="-122"/>
                <a:cs typeface="Calibri" pitchFamily="34" charset="-120"/>
              </a:rPr>
              <a:t>provision the device for slice 2 (iot)</a:t>
            </a:r>
            <a:endParaRPr lang="en-US" sz="1250" dirty="0"/>
          </a:p>
        </p:txBody>
      </p:sp>
      <p:sp>
        <p:nvSpPr>
          <p:cNvPr id="29" name="Shape 27"/>
          <p:cNvSpPr/>
          <p:nvPr/>
        </p:nvSpPr>
        <p:spPr>
          <a:xfrm>
            <a:off x="6217920" y="4480560"/>
            <a:ext cx="5120640" cy="1143000"/>
          </a:xfrm>
          <a:prstGeom prst="roundRect">
            <a:avLst>
              <a:gd name="adj" fmla="val 8000"/>
            </a:avLst>
          </a:prstGeom>
          <a:solidFill>
            <a:srgbClr val="F1F5FB"/>
          </a:solidFill>
          <a:ln/>
          <a:effectLst>
            <a:outerShdw sx="100000" sy="100000" kx="0" ky="0" algn="bl" rotWithShape="0" blurRad="114300" dist="38100" dir="5400000">
              <a:srgbClr val="0B1220">
                <a:alpha val="15000"/>
              </a:srgbClr>
            </a:outerShdw>
          </a:effectLst>
        </p:spPr>
      </p:sp>
      <p:sp>
        <p:nvSpPr>
          <p:cNvPr id="30" name="Shape 28"/>
          <p:cNvSpPr/>
          <p:nvPr/>
        </p:nvSpPr>
        <p:spPr>
          <a:xfrm>
            <a:off x="6473952" y="4754880"/>
            <a:ext cx="566928" cy="566928"/>
          </a:xfrm>
          <a:prstGeom prst="ellipse">
            <a:avLst/>
          </a:prstGeom>
          <a:solidFill>
            <a:srgbClr val="2D6CDF"/>
          </a:solidFill>
          <a:ln/>
          <a:effectLst>
            <a:outerShdw sx="100000" sy="100000" kx="0" ky="0" algn="bl" rotWithShape="0" blurRad="76200" dist="38100" dir="5400000">
              <a:srgbClr val="0B1220">
                <a:alpha val="20000"/>
              </a:srgbClr>
            </a:outerShdw>
          </a:effectLst>
        </p:spPr>
      </p:sp>
      <p:sp>
        <p:nvSpPr>
          <p:cNvPr id="31" name="Text 29"/>
          <p:cNvSpPr/>
          <p:nvPr/>
        </p:nvSpPr>
        <p:spPr>
          <a:xfrm>
            <a:off x="6473952" y="475488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7223760" y="4663440"/>
            <a:ext cx="384048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RAN</a:t>
            </a:r>
            <a:endParaRPr lang="en-US" sz="1500" dirty="0"/>
          </a:p>
        </p:txBody>
      </p:sp>
      <p:sp>
        <p:nvSpPr>
          <p:cNvPr id="33" name="Text 31"/>
          <p:cNvSpPr/>
          <p:nvPr/>
        </p:nvSpPr>
        <p:spPr>
          <a:xfrm>
            <a:off x="7223760" y="5047488"/>
            <a:ext cx="3977640" cy="502920"/>
          </a:xfrm>
          <a:prstGeom prst="rect">
            <a:avLst/>
          </a:prstGeom>
          <a:noFill/>
          <a:ln/>
        </p:spPr>
        <p:txBody>
          <a:bodyPr wrap="square" lIns="0" tIns="0" rIns="0" bIns="0" rtlCol="0" anchor="ctr"/>
          <a:lstStyle/>
          <a:p>
            <a:pPr indent="0" marL="0">
              <a:lnSpc>
                <a:spcPts val="1500"/>
              </a:lnSpc>
              <a:buNone/>
            </a:pPr>
            <a:r>
              <a:rPr lang="en-US" sz="1250" dirty="0">
                <a:solidFill>
                  <a:srgbClr val="60708C"/>
                </a:solidFill>
                <a:latin typeface="Calibri" pitchFamily="34" charset="0"/>
                <a:ea typeface="Calibri" pitchFamily="34" charset="-122"/>
                <a:cs typeface="Calibri" pitchFamily="34" charset="-120"/>
              </a:rPr>
              <a:t>gNB advertises both slices; a 2nd UE on slice 2</a:t>
            </a:r>
            <a:endParaRPr lang="en-US" sz="1250" dirty="0"/>
          </a:p>
        </p:txBody>
      </p:sp>
      <p:sp>
        <p:nvSpPr>
          <p:cNvPr id="34" name="Text 32"/>
          <p:cNvSpPr/>
          <p:nvPr/>
        </p:nvSpPr>
        <p:spPr>
          <a:xfrm>
            <a:off x="822960" y="5989320"/>
            <a:ext cx="10515600" cy="365760"/>
          </a:xfrm>
          <a:prstGeom prst="rect">
            <a:avLst/>
          </a:prstGeom>
          <a:noFill/>
          <a:ln/>
        </p:spPr>
        <p:txBody>
          <a:bodyPr wrap="square" rtlCol="0" anchor="ctr"/>
          <a:lstStyle/>
          <a:p>
            <a:pPr algn="ctr" indent="0" marL="0">
              <a:buNone/>
            </a:pPr>
            <a:r>
              <a:rPr lang="en-US" sz="1250" i="1" dirty="0">
                <a:solidFill>
                  <a:srgbClr val="60708C"/>
                </a:solidFill>
                <a:latin typeface="Calibri" pitchFamily="34" charset="0"/>
                <a:ea typeface="Calibri" pitchFamily="34" charset="-122"/>
                <a:cs typeface="Calibri" pitchFamily="34" charset="-120"/>
              </a:rPr>
              <a:t>All additive — the original single-slice lab keeps working unchanged.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292608"/>
          </a:xfrm>
          <a:prstGeom prst="rect">
            <a:avLst/>
          </a:prstGeom>
          <a:noFill/>
          <a:ln/>
        </p:spPr>
        <p:txBody>
          <a:bodyPr wrap="square" rtlCol="0" anchor="ctr"/>
          <a:lstStyle/>
          <a:p>
            <a:pPr indent="0" marL="0">
              <a:buNone/>
            </a:pPr>
            <a:r>
              <a:rPr lang="en-US" sz="1200" b="1" spc="300" kern="0" dirty="0">
                <a:solidFill>
                  <a:srgbClr val="E0A419"/>
                </a:solidFill>
                <a:latin typeface="Calibri" pitchFamily="34" charset="0"/>
                <a:ea typeface="Calibri" pitchFamily="34" charset="-122"/>
                <a:cs typeface="Calibri" pitchFamily="34" charset="-120"/>
              </a:rPr>
              <a:t>SLICE SELECTION</a:t>
            </a:r>
            <a:endParaRPr lang="en-US" sz="1200" dirty="0"/>
          </a:p>
        </p:txBody>
      </p:sp>
      <p:sp>
        <p:nvSpPr>
          <p:cNvPr id="3" name="Text 1"/>
          <p:cNvSpPr/>
          <p:nvPr/>
        </p:nvSpPr>
        <p:spPr>
          <a:xfrm>
            <a:off x="822960" y="841248"/>
            <a:ext cx="1078992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How a device lands on the right slice</a:t>
            </a:r>
            <a:endParaRPr lang="en-US" sz="3100" dirty="0"/>
          </a:p>
        </p:txBody>
      </p:sp>
      <p:sp>
        <p:nvSpPr>
          <p:cNvPr id="4" name="Shape 2"/>
          <p:cNvSpPr/>
          <p:nvPr/>
        </p:nvSpPr>
        <p:spPr>
          <a:xfrm>
            <a:off x="502920" y="2286000"/>
            <a:ext cx="2103120" cy="1828800"/>
          </a:xfrm>
          <a:prstGeom prst="roundRect">
            <a:avLst>
              <a:gd name="adj" fmla="val 5000"/>
            </a:avLst>
          </a:prstGeom>
          <a:solidFill>
            <a:srgbClr val="F1F5FB"/>
          </a:solidFill>
          <a:ln/>
          <a:effectLst>
            <a:outerShdw sx="100000" sy="100000" kx="0" ky="0" algn="bl" rotWithShape="0" blurRad="114300" dist="38100" dir="5400000">
              <a:srgbClr val="0B1220">
                <a:alpha val="15000"/>
              </a:srgbClr>
            </a:outerShdw>
          </a:effectLst>
        </p:spPr>
      </p:sp>
      <p:sp>
        <p:nvSpPr>
          <p:cNvPr id="5" name="Shape 3"/>
          <p:cNvSpPr/>
          <p:nvPr/>
        </p:nvSpPr>
        <p:spPr>
          <a:xfrm>
            <a:off x="1325880" y="2487168"/>
            <a:ext cx="457200" cy="457200"/>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6" name="Text 4"/>
          <p:cNvSpPr/>
          <p:nvPr/>
        </p:nvSpPr>
        <p:spPr>
          <a:xfrm>
            <a:off x="1325880" y="2487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594360" y="3035808"/>
            <a:ext cx="1920240" cy="365760"/>
          </a:xfrm>
          <a:prstGeom prst="rect">
            <a:avLst/>
          </a:prstGeom>
          <a:noFill/>
          <a:ln/>
        </p:spPr>
        <p:txBody>
          <a:bodyPr wrap="square" lIns="0" tIns="0" rIns="0" bIns="0" rtlCol="0" anchor="ctr"/>
          <a:lstStyle/>
          <a:p>
            <a:pPr algn="ctr" indent="0" marL="0">
              <a:buNone/>
            </a:pPr>
            <a:r>
              <a:rPr lang="en-US" sz="1300" b="1" dirty="0">
                <a:solidFill>
                  <a:srgbClr val="1A2740"/>
                </a:solidFill>
                <a:latin typeface="Calibri" pitchFamily="34" charset="0"/>
                <a:ea typeface="Calibri" pitchFamily="34" charset="-122"/>
                <a:cs typeface="Calibri" pitchFamily="34" charset="-120"/>
              </a:rPr>
              <a:t>UE requests</a:t>
            </a:r>
            <a:endParaRPr lang="en-US" sz="1300" dirty="0"/>
          </a:p>
        </p:txBody>
      </p:sp>
      <p:sp>
        <p:nvSpPr>
          <p:cNvPr id="8" name="Text 6"/>
          <p:cNvSpPr/>
          <p:nvPr/>
        </p:nvSpPr>
        <p:spPr>
          <a:xfrm>
            <a:off x="594360" y="3401568"/>
            <a:ext cx="1920240" cy="548640"/>
          </a:xfrm>
          <a:prstGeom prst="rect">
            <a:avLst/>
          </a:prstGeom>
          <a:noFill/>
          <a:ln/>
        </p:spPr>
        <p:txBody>
          <a:bodyPr wrap="square" lIns="0" tIns="0" rIns="0" bIns="0" rtlCol="0" anchor="ctr"/>
          <a:lstStyle/>
          <a:p>
            <a:pPr algn="ctr" indent="0" marL="0">
              <a:lnSpc>
                <a:spcPts val="1400"/>
              </a:lnSpc>
              <a:buNone/>
            </a:pPr>
            <a:r>
              <a:rPr lang="en-US" sz="1100" dirty="0">
                <a:solidFill>
                  <a:srgbClr val="60708C"/>
                </a:solidFill>
                <a:latin typeface="Calibri" pitchFamily="34" charset="0"/>
                <a:ea typeface="Calibri" pitchFamily="34" charset="-122"/>
                <a:cs typeface="Calibri" pitchFamily="34" charset="-120"/>
              </a:rPr>
              <a:t>its S-NSSAI (which slice)</a:t>
            </a:r>
            <a:endParaRPr lang="en-US" sz="1100" dirty="0"/>
          </a:p>
        </p:txBody>
      </p:sp>
      <p:sp>
        <p:nvSpPr>
          <p:cNvPr id="9" name="Shape 7"/>
          <p:cNvSpPr/>
          <p:nvPr/>
        </p:nvSpPr>
        <p:spPr>
          <a:xfrm>
            <a:off x="2624328" y="3200400"/>
            <a:ext cx="146304" cy="0"/>
          </a:xfrm>
          <a:prstGeom prst="line">
            <a:avLst/>
          </a:prstGeom>
          <a:noFill/>
          <a:ln w="28575">
            <a:solidFill>
              <a:srgbClr val="60708C"/>
            </a:solidFill>
            <a:prstDash val="solid"/>
            <a:tailEnd type="triangle"/>
          </a:ln>
        </p:spPr>
      </p:sp>
      <p:sp>
        <p:nvSpPr>
          <p:cNvPr id="10" name="Shape 8"/>
          <p:cNvSpPr/>
          <p:nvPr/>
        </p:nvSpPr>
        <p:spPr>
          <a:xfrm>
            <a:off x="2788920" y="2286000"/>
            <a:ext cx="2103120" cy="1828800"/>
          </a:xfrm>
          <a:prstGeom prst="roundRect">
            <a:avLst>
              <a:gd name="adj" fmla="val 5000"/>
            </a:avLst>
          </a:prstGeom>
          <a:solidFill>
            <a:srgbClr val="F1F5FB"/>
          </a:solidFill>
          <a:ln/>
          <a:effectLst>
            <a:outerShdw sx="100000" sy="100000" kx="0" ky="0" algn="bl" rotWithShape="0" blurRad="114300" dist="38100" dir="5400000">
              <a:srgbClr val="0B1220">
                <a:alpha val="15000"/>
              </a:srgbClr>
            </a:outerShdw>
          </a:effectLst>
        </p:spPr>
      </p:sp>
      <p:sp>
        <p:nvSpPr>
          <p:cNvPr id="11" name="Shape 9"/>
          <p:cNvSpPr/>
          <p:nvPr/>
        </p:nvSpPr>
        <p:spPr>
          <a:xfrm>
            <a:off x="3611880" y="2487168"/>
            <a:ext cx="457200" cy="457200"/>
          </a:xfrm>
          <a:prstGeom prst="ellipse">
            <a:avLst/>
          </a:prstGeom>
          <a:solidFill>
            <a:srgbClr val="2D6CDF"/>
          </a:solidFill>
          <a:ln/>
          <a:effectLst>
            <a:outerShdw sx="100000" sy="100000" kx="0" ky="0" algn="bl" rotWithShape="0" blurRad="76200" dist="38100" dir="5400000">
              <a:srgbClr val="0B1220">
                <a:alpha val="20000"/>
              </a:srgbClr>
            </a:outerShdw>
          </a:effectLst>
        </p:spPr>
      </p:sp>
      <p:sp>
        <p:nvSpPr>
          <p:cNvPr id="12" name="Text 10"/>
          <p:cNvSpPr/>
          <p:nvPr/>
        </p:nvSpPr>
        <p:spPr>
          <a:xfrm>
            <a:off x="3611880" y="2487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2880360" y="3035808"/>
            <a:ext cx="1920240" cy="365760"/>
          </a:xfrm>
          <a:prstGeom prst="rect">
            <a:avLst/>
          </a:prstGeom>
          <a:noFill/>
          <a:ln/>
        </p:spPr>
        <p:txBody>
          <a:bodyPr wrap="square" lIns="0" tIns="0" rIns="0" bIns="0" rtlCol="0" anchor="ctr"/>
          <a:lstStyle/>
          <a:p>
            <a:pPr algn="ctr" indent="0" marL="0">
              <a:buNone/>
            </a:pPr>
            <a:r>
              <a:rPr lang="en-US" sz="1300" b="1" dirty="0">
                <a:solidFill>
                  <a:srgbClr val="1A2740"/>
                </a:solidFill>
                <a:latin typeface="Calibri" pitchFamily="34" charset="0"/>
                <a:ea typeface="Calibri" pitchFamily="34" charset="-122"/>
                <a:cs typeface="Calibri" pitchFamily="34" charset="-120"/>
              </a:rPr>
              <a:t>AMF ↔ NSSF</a:t>
            </a:r>
            <a:endParaRPr lang="en-US" sz="1300" dirty="0"/>
          </a:p>
        </p:txBody>
      </p:sp>
      <p:sp>
        <p:nvSpPr>
          <p:cNvPr id="14" name="Text 12"/>
          <p:cNvSpPr/>
          <p:nvPr/>
        </p:nvSpPr>
        <p:spPr>
          <a:xfrm>
            <a:off x="2880360" y="3401568"/>
            <a:ext cx="1920240" cy="548640"/>
          </a:xfrm>
          <a:prstGeom prst="rect">
            <a:avLst/>
          </a:prstGeom>
          <a:noFill/>
          <a:ln/>
        </p:spPr>
        <p:txBody>
          <a:bodyPr wrap="square" lIns="0" tIns="0" rIns="0" bIns="0" rtlCol="0" anchor="ctr"/>
          <a:lstStyle/>
          <a:p>
            <a:pPr algn="ctr" indent="0" marL="0">
              <a:lnSpc>
                <a:spcPts val="1400"/>
              </a:lnSpc>
              <a:buNone/>
            </a:pPr>
            <a:r>
              <a:rPr lang="en-US" sz="1100" dirty="0">
                <a:solidFill>
                  <a:srgbClr val="60708C"/>
                </a:solidFill>
                <a:latin typeface="Calibri" pitchFamily="34" charset="0"/>
                <a:ea typeface="Calibri" pitchFamily="34" charset="-122"/>
                <a:cs typeface="Calibri" pitchFamily="34" charset="-120"/>
              </a:rPr>
              <a:t>checks the allowed slice</a:t>
            </a:r>
            <a:endParaRPr lang="en-US" sz="1100" dirty="0"/>
          </a:p>
        </p:txBody>
      </p:sp>
      <p:sp>
        <p:nvSpPr>
          <p:cNvPr id="15" name="Shape 13"/>
          <p:cNvSpPr/>
          <p:nvPr/>
        </p:nvSpPr>
        <p:spPr>
          <a:xfrm>
            <a:off x="4910328" y="3200400"/>
            <a:ext cx="146304" cy="0"/>
          </a:xfrm>
          <a:prstGeom prst="line">
            <a:avLst/>
          </a:prstGeom>
          <a:noFill/>
          <a:ln w="28575">
            <a:solidFill>
              <a:srgbClr val="60708C"/>
            </a:solidFill>
            <a:prstDash val="solid"/>
            <a:tailEnd type="triangle"/>
          </a:ln>
        </p:spPr>
      </p:sp>
      <p:sp>
        <p:nvSpPr>
          <p:cNvPr id="16" name="Shape 14"/>
          <p:cNvSpPr/>
          <p:nvPr/>
        </p:nvSpPr>
        <p:spPr>
          <a:xfrm>
            <a:off x="5074920" y="2286000"/>
            <a:ext cx="2103120" cy="1828800"/>
          </a:xfrm>
          <a:prstGeom prst="roundRect">
            <a:avLst>
              <a:gd name="adj" fmla="val 5000"/>
            </a:avLst>
          </a:prstGeom>
          <a:solidFill>
            <a:srgbClr val="F1F5FB"/>
          </a:solidFill>
          <a:ln/>
          <a:effectLst>
            <a:outerShdw sx="100000" sy="100000" kx="0" ky="0" algn="bl" rotWithShape="0" blurRad="114300" dist="38100" dir="5400000">
              <a:srgbClr val="0B1220">
                <a:alpha val="15000"/>
              </a:srgbClr>
            </a:outerShdw>
          </a:effectLst>
        </p:spPr>
      </p:sp>
      <p:sp>
        <p:nvSpPr>
          <p:cNvPr id="17" name="Shape 15"/>
          <p:cNvSpPr/>
          <p:nvPr/>
        </p:nvSpPr>
        <p:spPr>
          <a:xfrm>
            <a:off x="5897880" y="2487168"/>
            <a:ext cx="457200" cy="457200"/>
          </a:xfrm>
          <a:prstGeom prst="ellipse">
            <a:avLst/>
          </a:prstGeom>
          <a:solidFill>
            <a:srgbClr val="E0A419"/>
          </a:solidFill>
          <a:ln/>
          <a:effectLst>
            <a:outerShdw sx="100000" sy="100000" kx="0" ky="0" algn="bl" rotWithShape="0" blurRad="76200" dist="38100" dir="5400000">
              <a:srgbClr val="0B1220">
                <a:alpha val="20000"/>
              </a:srgbClr>
            </a:outerShdw>
          </a:effectLst>
        </p:spPr>
      </p:sp>
      <p:sp>
        <p:nvSpPr>
          <p:cNvPr id="18" name="Text 16"/>
          <p:cNvSpPr/>
          <p:nvPr/>
        </p:nvSpPr>
        <p:spPr>
          <a:xfrm>
            <a:off x="5897880" y="2487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p:nvPr/>
        </p:nvSpPr>
        <p:spPr>
          <a:xfrm>
            <a:off x="5166360" y="3035808"/>
            <a:ext cx="1920240" cy="365760"/>
          </a:xfrm>
          <a:prstGeom prst="rect">
            <a:avLst/>
          </a:prstGeom>
          <a:noFill/>
          <a:ln/>
        </p:spPr>
        <p:txBody>
          <a:bodyPr wrap="square" lIns="0" tIns="0" rIns="0" bIns="0" rtlCol="0" anchor="ctr"/>
          <a:lstStyle/>
          <a:p>
            <a:pPr algn="ctr" indent="0" marL="0">
              <a:buNone/>
            </a:pPr>
            <a:r>
              <a:rPr lang="en-US" sz="1300" b="1" dirty="0">
                <a:solidFill>
                  <a:srgbClr val="1A2740"/>
                </a:solidFill>
                <a:latin typeface="Calibri" pitchFamily="34" charset="0"/>
                <a:ea typeface="Calibri" pitchFamily="34" charset="-122"/>
                <a:cs typeface="Calibri" pitchFamily="34" charset="-120"/>
              </a:rPr>
              <a:t>SMF selected</a:t>
            </a:r>
            <a:endParaRPr lang="en-US" sz="1300" dirty="0"/>
          </a:p>
        </p:txBody>
      </p:sp>
      <p:sp>
        <p:nvSpPr>
          <p:cNvPr id="20" name="Text 18"/>
          <p:cNvSpPr/>
          <p:nvPr/>
        </p:nvSpPr>
        <p:spPr>
          <a:xfrm>
            <a:off x="5166360" y="3401568"/>
            <a:ext cx="1920240" cy="548640"/>
          </a:xfrm>
          <a:prstGeom prst="rect">
            <a:avLst/>
          </a:prstGeom>
          <a:noFill/>
          <a:ln/>
        </p:spPr>
        <p:txBody>
          <a:bodyPr wrap="square" lIns="0" tIns="0" rIns="0" bIns="0" rtlCol="0" anchor="ctr"/>
          <a:lstStyle/>
          <a:p>
            <a:pPr algn="ctr" indent="0" marL="0">
              <a:lnSpc>
                <a:spcPts val="1400"/>
              </a:lnSpc>
              <a:buNone/>
            </a:pPr>
            <a:r>
              <a:rPr lang="en-US" sz="1100" dirty="0">
                <a:solidFill>
                  <a:srgbClr val="60708C"/>
                </a:solidFill>
                <a:latin typeface="Calibri" pitchFamily="34" charset="0"/>
                <a:ea typeface="Calibri" pitchFamily="34" charset="-122"/>
                <a:cs typeface="Calibri" pitchFamily="34" charset="-120"/>
              </a:rPr>
              <a:t>for that slice + DNN</a:t>
            </a:r>
            <a:endParaRPr lang="en-US" sz="1100" dirty="0"/>
          </a:p>
        </p:txBody>
      </p:sp>
      <p:sp>
        <p:nvSpPr>
          <p:cNvPr id="21" name="Shape 19"/>
          <p:cNvSpPr/>
          <p:nvPr/>
        </p:nvSpPr>
        <p:spPr>
          <a:xfrm>
            <a:off x="7196328" y="3200400"/>
            <a:ext cx="146304" cy="0"/>
          </a:xfrm>
          <a:prstGeom prst="line">
            <a:avLst/>
          </a:prstGeom>
          <a:noFill/>
          <a:ln w="28575">
            <a:solidFill>
              <a:srgbClr val="60708C"/>
            </a:solidFill>
            <a:prstDash val="solid"/>
            <a:tailEnd type="triangle"/>
          </a:ln>
        </p:spPr>
      </p:sp>
      <p:sp>
        <p:nvSpPr>
          <p:cNvPr id="22" name="Shape 20"/>
          <p:cNvSpPr/>
          <p:nvPr/>
        </p:nvSpPr>
        <p:spPr>
          <a:xfrm>
            <a:off x="7360920" y="2286000"/>
            <a:ext cx="2103120" cy="1828800"/>
          </a:xfrm>
          <a:prstGeom prst="roundRect">
            <a:avLst>
              <a:gd name="adj" fmla="val 5000"/>
            </a:avLst>
          </a:prstGeom>
          <a:solidFill>
            <a:srgbClr val="F1F5FB"/>
          </a:solidFill>
          <a:ln/>
          <a:effectLst>
            <a:outerShdw sx="100000" sy="100000" kx="0" ky="0" algn="bl" rotWithShape="0" blurRad="114300" dist="38100" dir="5400000">
              <a:srgbClr val="0B1220">
                <a:alpha val="15000"/>
              </a:srgbClr>
            </a:outerShdw>
          </a:effectLst>
        </p:spPr>
      </p:sp>
      <p:sp>
        <p:nvSpPr>
          <p:cNvPr id="23" name="Shape 21"/>
          <p:cNvSpPr/>
          <p:nvPr/>
        </p:nvSpPr>
        <p:spPr>
          <a:xfrm>
            <a:off x="8183880" y="2487168"/>
            <a:ext cx="457200" cy="457200"/>
          </a:xfrm>
          <a:prstGeom prst="ellipse">
            <a:avLst/>
          </a:prstGeom>
          <a:solidFill>
            <a:srgbClr val="F96167"/>
          </a:solidFill>
          <a:ln/>
          <a:effectLst>
            <a:outerShdw sx="100000" sy="100000" kx="0" ky="0" algn="bl" rotWithShape="0" blurRad="76200" dist="38100" dir="5400000">
              <a:srgbClr val="0B1220">
                <a:alpha val="20000"/>
              </a:srgbClr>
            </a:outerShdw>
          </a:effectLst>
        </p:spPr>
      </p:sp>
      <p:sp>
        <p:nvSpPr>
          <p:cNvPr id="24" name="Text 22"/>
          <p:cNvSpPr/>
          <p:nvPr/>
        </p:nvSpPr>
        <p:spPr>
          <a:xfrm>
            <a:off x="8183880" y="2487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p:nvPr/>
        </p:nvSpPr>
        <p:spPr>
          <a:xfrm>
            <a:off x="7452360" y="3035808"/>
            <a:ext cx="1920240" cy="365760"/>
          </a:xfrm>
          <a:prstGeom prst="rect">
            <a:avLst/>
          </a:prstGeom>
          <a:noFill/>
          <a:ln/>
        </p:spPr>
        <p:txBody>
          <a:bodyPr wrap="square" lIns="0" tIns="0" rIns="0" bIns="0" rtlCol="0" anchor="ctr"/>
          <a:lstStyle/>
          <a:p>
            <a:pPr algn="ctr" indent="0" marL="0">
              <a:buNone/>
            </a:pPr>
            <a:r>
              <a:rPr lang="en-US" sz="1300" b="1" dirty="0">
                <a:solidFill>
                  <a:srgbClr val="1A2740"/>
                </a:solidFill>
                <a:latin typeface="Calibri" pitchFamily="34" charset="0"/>
                <a:ea typeface="Calibri" pitchFamily="34" charset="-122"/>
                <a:cs typeface="Calibri" pitchFamily="34" charset="-120"/>
              </a:rPr>
              <a:t>UPF by DNN</a:t>
            </a:r>
            <a:endParaRPr lang="en-US" sz="1300" dirty="0"/>
          </a:p>
        </p:txBody>
      </p:sp>
      <p:sp>
        <p:nvSpPr>
          <p:cNvPr id="26" name="Text 24"/>
          <p:cNvSpPr/>
          <p:nvPr/>
        </p:nvSpPr>
        <p:spPr>
          <a:xfrm>
            <a:off x="7452360" y="3401568"/>
            <a:ext cx="1920240" cy="548640"/>
          </a:xfrm>
          <a:prstGeom prst="rect">
            <a:avLst/>
          </a:prstGeom>
          <a:noFill/>
          <a:ln/>
        </p:spPr>
        <p:txBody>
          <a:bodyPr wrap="square" lIns="0" tIns="0" rIns="0" bIns="0" rtlCol="0" anchor="ctr"/>
          <a:lstStyle/>
          <a:p>
            <a:pPr algn="ctr" indent="0" marL="0">
              <a:lnSpc>
                <a:spcPts val="1400"/>
              </a:lnSpc>
              <a:buNone/>
            </a:pPr>
            <a:r>
              <a:rPr lang="en-US" sz="1100" dirty="0">
                <a:solidFill>
                  <a:srgbClr val="60708C"/>
                </a:solidFill>
                <a:latin typeface="Calibri" pitchFamily="34" charset="0"/>
                <a:ea typeface="Calibri" pitchFamily="34" charset="-122"/>
                <a:cs typeface="Calibri" pitchFamily="34" charset="-120"/>
              </a:rPr>
              <a:t>SMF routes to the right UPF</a:t>
            </a:r>
            <a:endParaRPr lang="en-US" sz="1100" dirty="0"/>
          </a:p>
        </p:txBody>
      </p:sp>
      <p:sp>
        <p:nvSpPr>
          <p:cNvPr id="27" name="Shape 25"/>
          <p:cNvSpPr/>
          <p:nvPr/>
        </p:nvSpPr>
        <p:spPr>
          <a:xfrm>
            <a:off x="9482328" y="3200400"/>
            <a:ext cx="146304" cy="0"/>
          </a:xfrm>
          <a:prstGeom prst="line">
            <a:avLst/>
          </a:prstGeom>
          <a:noFill/>
          <a:ln w="28575">
            <a:solidFill>
              <a:srgbClr val="60708C"/>
            </a:solidFill>
            <a:prstDash val="solid"/>
            <a:tailEnd type="triangle"/>
          </a:ln>
        </p:spPr>
      </p:sp>
      <p:sp>
        <p:nvSpPr>
          <p:cNvPr id="28" name="Shape 26"/>
          <p:cNvSpPr/>
          <p:nvPr/>
        </p:nvSpPr>
        <p:spPr>
          <a:xfrm>
            <a:off x="9646920" y="2286000"/>
            <a:ext cx="2103120" cy="1828800"/>
          </a:xfrm>
          <a:prstGeom prst="roundRect">
            <a:avLst>
              <a:gd name="adj" fmla="val 5000"/>
            </a:avLst>
          </a:prstGeom>
          <a:solidFill>
            <a:srgbClr val="F1F5FB"/>
          </a:solidFill>
          <a:ln/>
          <a:effectLst>
            <a:outerShdw sx="100000" sy="100000" kx="0" ky="0" algn="bl" rotWithShape="0" blurRad="114300" dist="38100" dir="5400000">
              <a:srgbClr val="0B1220">
                <a:alpha val="15000"/>
              </a:srgbClr>
            </a:outerShdw>
          </a:effectLst>
        </p:spPr>
      </p:sp>
      <p:sp>
        <p:nvSpPr>
          <p:cNvPr id="29" name="Shape 27"/>
          <p:cNvSpPr/>
          <p:nvPr/>
        </p:nvSpPr>
        <p:spPr>
          <a:xfrm>
            <a:off x="10469880" y="2487168"/>
            <a:ext cx="457200" cy="457200"/>
          </a:xfrm>
          <a:prstGeom prst="ellipse">
            <a:avLst/>
          </a:prstGeom>
          <a:solidFill>
            <a:srgbClr val="2FA36B"/>
          </a:solidFill>
          <a:ln/>
          <a:effectLst>
            <a:outerShdw sx="100000" sy="100000" kx="0" ky="0" algn="bl" rotWithShape="0" blurRad="76200" dist="38100" dir="5400000">
              <a:srgbClr val="0B1220">
                <a:alpha val="20000"/>
              </a:srgbClr>
            </a:outerShdw>
          </a:effectLst>
        </p:spPr>
      </p:sp>
      <p:sp>
        <p:nvSpPr>
          <p:cNvPr id="30" name="Text 28"/>
          <p:cNvSpPr/>
          <p:nvPr/>
        </p:nvSpPr>
        <p:spPr>
          <a:xfrm>
            <a:off x="10469880" y="24871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1" name="Text 29"/>
          <p:cNvSpPr/>
          <p:nvPr/>
        </p:nvSpPr>
        <p:spPr>
          <a:xfrm>
            <a:off x="9738360" y="3035808"/>
            <a:ext cx="1920240" cy="365760"/>
          </a:xfrm>
          <a:prstGeom prst="rect">
            <a:avLst/>
          </a:prstGeom>
          <a:noFill/>
          <a:ln/>
        </p:spPr>
        <p:txBody>
          <a:bodyPr wrap="square" lIns="0" tIns="0" rIns="0" bIns="0" rtlCol="0" anchor="ctr"/>
          <a:lstStyle/>
          <a:p>
            <a:pPr algn="ctr" indent="0" marL="0">
              <a:buNone/>
            </a:pPr>
            <a:r>
              <a:rPr lang="en-US" sz="1300" b="1" dirty="0">
                <a:solidFill>
                  <a:srgbClr val="1A2740"/>
                </a:solidFill>
                <a:latin typeface="Calibri" pitchFamily="34" charset="0"/>
                <a:ea typeface="Calibri" pitchFamily="34" charset="-122"/>
                <a:cs typeface="Calibri" pitchFamily="34" charset="-120"/>
              </a:rPr>
              <a:t>IP assigned</a:t>
            </a:r>
            <a:endParaRPr lang="en-US" sz="1300" dirty="0"/>
          </a:p>
        </p:txBody>
      </p:sp>
      <p:sp>
        <p:nvSpPr>
          <p:cNvPr id="32" name="Text 30"/>
          <p:cNvSpPr/>
          <p:nvPr/>
        </p:nvSpPr>
        <p:spPr>
          <a:xfrm>
            <a:off x="9738360" y="3401568"/>
            <a:ext cx="1920240" cy="548640"/>
          </a:xfrm>
          <a:prstGeom prst="rect">
            <a:avLst/>
          </a:prstGeom>
          <a:noFill/>
          <a:ln/>
        </p:spPr>
        <p:txBody>
          <a:bodyPr wrap="square" lIns="0" tIns="0" rIns="0" bIns="0" rtlCol="0" anchor="ctr"/>
          <a:lstStyle/>
          <a:p>
            <a:pPr algn="ctr" indent="0" marL="0">
              <a:lnSpc>
                <a:spcPts val="1400"/>
              </a:lnSpc>
              <a:buNone/>
            </a:pPr>
            <a:r>
              <a:rPr lang="en-US" sz="1100" dirty="0">
                <a:solidFill>
                  <a:srgbClr val="60708C"/>
                </a:solidFill>
                <a:latin typeface="Calibri" pitchFamily="34" charset="0"/>
                <a:ea typeface="Calibri" pitchFamily="34" charset="-122"/>
                <a:cs typeface="Calibri" pitchFamily="34" charset="-120"/>
              </a:rPr>
              <a:t>from that UPF's pool</a:t>
            </a:r>
            <a:endParaRPr lang="en-US" sz="1100" dirty="0"/>
          </a:p>
        </p:txBody>
      </p:sp>
      <p:sp>
        <p:nvSpPr>
          <p:cNvPr id="33" name="Text 31"/>
          <p:cNvSpPr/>
          <p:nvPr/>
        </p:nvSpPr>
        <p:spPr>
          <a:xfrm>
            <a:off x="822960" y="4709160"/>
            <a:ext cx="10515600" cy="457200"/>
          </a:xfrm>
          <a:prstGeom prst="rect">
            <a:avLst/>
          </a:prstGeom>
          <a:noFill/>
          <a:ln/>
        </p:spPr>
        <p:txBody>
          <a:bodyPr wrap="square" rtlCol="0" anchor="ctr"/>
          <a:lstStyle/>
          <a:p>
            <a:pPr algn="ctr" indent="0" marL="0">
              <a:buNone/>
            </a:pPr>
            <a:r>
              <a:rPr lang="en-US" sz="1300" i="1" dirty="0">
                <a:solidFill>
                  <a:srgbClr val="60708C"/>
                </a:solidFill>
                <a:latin typeface="Calibri" pitchFamily="34" charset="0"/>
                <a:ea typeface="Calibri" pitchFamily="34" charset="-122"/>
                <a:cs typeface="Calibri" pitchFamily="34" charset="-120"/>
              </a:rPr>
              <a:t>Subscriber data (in the UDM/Mongo) says which slices a device is allowed on — so a UE can't just pick any slice.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292608"/>
          </a:xfrm>
          <a:prstGeom prst="rect">
            <a:avLst/>
          </a:prstGeom>
          <a:noFill/>
          <a:ln/>
        </p:spPr>
        <p:txBody>
          <a:bodyPr wrap="square" rtlCol="0" anchor="ctr"/>
          <a:lstStyle/>
          <a:p>
            <a:pPr indent="0" marL="0">
              <a:buNone/>
            </a:pPr>
            <a:r>
              <a:rPr lang="en-US" sz="1200" b="1" spc="300" kern="0" dirty="0">
                <a:solidFill>
                  <a:srgbClr val="12B3A6"/>
                </a:solidFill>
                <a:latin typeface="Calibri" pitchFamily="34" charset="0"/>
                <a:ea typeface="Calibri" pitchFamily="34" charset="-122"/>
                <a:cs typeface="Calibri" pitchFamily="34" charset="-120"/>
              </a:rPr>
              <a:t>THE DEMO</a:t>
            </a:r>
            <a:endParaRPr lang="en-US" sz="1200" dirty="0"/>
          </a:p>
        </p:txBody>
      </p:sp>
      <p:sp>
        <p:nvSpPr>
          <p:cNvPr id="3" name="Text 1"/>
          <p:cNvSpPr/>
          <p:nvPr/>
        </p:nvSpPr>
        <p:spPr>
          <a:xfrm>
            <a:off x="822960" y="841248"/>
            <a:ext cx="1078992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Two UEs attach — two different subnets</a:t>
            </a:r>
            <a:endParaRPr lang="en-US" sz="3100" dirty="0"/>
          </a:p>
        </p:txBody>
      </p:sp>
      <p:sp>
        <p:nvSpPr>
          <p:cNvPr id="4" name="Shape 2"/>
          <p:cNvSpPr/>
          <p:nvPr/>
        </p:nvSpPr>
        <p:spPr>
          <a:xfrm>
            <a:off x="822960" y="1874520"/>
            <a:ext cx="5120640" cy="2468880"/>
          </a:xfrm>
          <a:prstGeom prst="roundRect">
            <a:avLst>
              <a:gd name="adj" fmla="val 3704"/>
            </a:avLst>
          </a:prstGeom>
          <a:solidFill>
            <a:srgbClr val="E9F7F5"/>
          </a:solidFill>
          <a:ln/>
          <a:effectLst>
            <a:outerShdw sx="100000" sy="100000" kx="0" ky="0" algn="bl" rotWithShape="0" blurRad="114300" dist="38100" dir="5400000">
              <a:srgbClr val="0B1220">
                <a:alpha val="15000"/>
              </a:srgbClr>
            </a:outerShdw>
          </a:effectLst>
        </p:spPr>
      </p:sp>
      <p:sp>
        <p:nvSpPr>
          <p:cNvPr id="5" name="Text 3"/>
          <p:cNvSpPr/>
          <p:nvPr/>
        </p:nvSpPr>
        <p:spPr>
          <a:xfrm>
            <a:off x="1143000" y="2103120"/>
            <a:ext cx="4572000" cy="411480"/>
          </a:xfrm>
          <a:prstGeom prst="rect">
            <a:avLst/>
          </a:prstGeom>
          <a:noFill/>
          <a:ln/>
        </p:spPr>
        <p:txBody>
          <a:bodyPr wrap="square" lIns="0" tIns="0" rIns="0" bIns="0" rtlCol="0" anchor="ctr"/>
          <a:lstStyle/>
          <a:p>
            <a:pPr indent="0" marL="0">
              <a:buNone/>
            </a:pPr>
            <a:r>
              <a:rPr lang="en-US" sz="1600" b="1" dirty="0">
                <a:solidFill>
                  <a:srgbClr val="1A2740"/>
                </a:solidFill>
                <a:latin typeface="Calibri" pitchFamily="34" charset="0"/>
                <a:ea typeface="Calibri" pitchFamily="34" charset="-122"/>
                <a:cs typeface="Calibri" pitchFamily="34" charset="-120"/>
              </a:rPr>
              <a:t>UE-A · Slice 1 (eMBB)</a:t>
            </a:r>
            <a:endParaRPr lang="en-US" sz="1600" dirty="0"/>
          </a:p>
        </p:txBody>
      </p:sp>
      <p:sp>
        <p:nvSpPr>
          <p:cNvPr id="6" name="Text 4"/>
          <p:cNvSpPr/>
          <p:nvPr/>
        </p:nvSpPr>
        <p:spPr>
          <a:xfrm>
            <a:off x="1143000" y="2606040"/>
            <a:ext cx="4572000" cy="822960"/>
          </a:xfrm>
          <a:prstGeom prst="rect">
            <a:avLst/>
          </a:prstGeom>
          <a:noFill/>
          <a:ln/>
        </p:spPr>
        <p:txBody>
          <a:bodyPr wrap="square" lIns="0" tIns="0" rIns="0" bIns="0" rtlCol="0" anchor="ctr"/>
          <a:lstStyle/>
          <a:p>
            <a:pPr indent="0" marL="0">
              <a:buNone/>
            </a:pPr>
            <a:r>
              <a:rPr lang="en-US" sz="4000" b="1" dirty="0">
                <a:solidFill>
                  <a:srgbClr val="12B3A6"/>
                </a:solidFill>
                <a:latin typeface="Cambria" pitchFamily="34" charset="0"/>
                <a:ea typeface="Cambria" pitchFamily="34" charset="-122"/>
                <a:cs typeface="Cambria" pitchFamily="34" charset="-120"/>
              </a:rPr>
              <a:t>10.45.0.2</a:t>
            </a:r>
            <a:endParaRPr lang="en-US" sz="4000" dirty="0"/>
          </a:p>
        </p:txBody>
      </p:sp>
      <p:sp>
        <p:nvSpPr>
          <p:cNvPr id="7" name="Text 5"/>
          <p:cNvSpPr/>
          <p:nvPr/>
        </p:nvSpPr>
        <p:spPr>
          <a:xfrm>
            <a:off x="1143000" y="3520440"/>
            <a:ext cx="4572000" cy="365760"/>
          </a:xfrm>
          <a:prstGeom prst="rect">
            <a:avLst/>
          </a:prstGeom>
          <a:noFill/>
          <a:ln/>
        </p:spPr>
        <p:txBody>
          <a:bodyPr wrap="square" lIns="0" tIns="0" rIns="0" bIns="0" rtlCol="0" anchor="ctr"/>
          <a:lstStyle/>
          <a:p>
            <a:pPr indent="0" marL="0">
              <a:buNone/>
            </a:pPr>
            <a:r>
              <a:rPr lang="en-US" sz="1350" dirty="0">
                <a:solidFill>
                  <a:srgbClr val="60708C"/>
                </a:solidFill>
                <a:latin typeface="Calibri" pitchFamily="34" charset="0"/>
                <a:ea typeface="Calibri" pitchFamily="34" charset="-122"/>
                <a:cs typeface="Calibri" pitchFamily="34" charset="-120"/>
              </a:rPr>
              <a:t>via upf · DNN internet</a:t>
            </a:r>
            <a:endParaRPr lang="en-US" sz="1350" dirty="0"/>
          </a:p>
        </p:txBody>
      </p:sp>
      <p:sp>
        <p:nvSpPr>
          <p:cNvPr id="8" name="Text 6"/>
          <p:cNvSpPr/>
          <p:nvPr/>
        </p:nvSpPr>
        <p:spPr>
          <a:xfrm>
            <a:off x="1143000" y="3886200"/>
            <a:ext cx="4572000" cy="320040"/>
          </a:xfrm>
          <a:prstGeom prst="rect">
            <a:avLst/>
          </a:prstGeom>
          <a:noFill/>
          <a:ln/>
        </p:spPr>
        <p:txBody>
          <a:bodyPr wrap="square" lIns="0" tIns="0" rIns="0" bIns="0" rtlCol="0" anchor="ctr"/>
          <a:lstStyle/>
          <a:p>
            <a:pPr indent="0" marL="0">
              <a:buNone/>
            </a:pPr>
            <a:r>
              <a:rPr lang="en-US" sz="1150" i="1" dirty="0">
                <a:solidFill>
                  <a:srgbClr val="12B3A6"/>
                </a:solidFill>
                <a:latin typeface="Calibri" pitchFamily="34" charset="0"/>
                <a:ea typeface="Calibri" pitchFamily="34" charset="-122"/>
                <a:cs typeface="Calibri" pitchFamily="34" charset="-120"/>
              </a:rPr>
              <a:t>uesimtun0 · internet egress OK</a:t>
            </a:r>
            <a:endParaRPr lang="en-US" sz="1150" dirty="0"/>
          </a:p>
        </p:txBody>
      </p:sp>
      <p:sp>
        <p:nvSpPr>
          <p:cNvPr id="9" name="Shape 7"/>
          <p:cNvSpPr/>
          <p:nvPr/>
        </p:nvSpPr>
        <p:spPr>
          <a:xfrm>
            <a:off x="6217920" y="1874520"/>
            <a:ext cx="5120640" cy="2468880"/>
          </a:xfrm>
          <a:prstGeom prst="roundRect">
            <a:avLst>
              <a:gd name="adj" fmla="val 3704"/>
            </a:avLst>
          </a:prstGeom>
          <a:solidFill>
            <a:srgbClr val="FBF1DA"/>
          </a:solidFill>
          <a:ln/>
          <a:effectLst>
            <a:outerShdw sx="100000" sy="100000" kx="0" ky="0" algn="bl" rotWithShape="0" blurRad="114300" dist="38100" dir="5400000">
              <a:srgbClr val="0B1220">
                <a:alpha val="15000"/>
              </a:srgbClr>
            </a:outerShdw>
          </a:effectLst>
        </p:spPr>
      </p:sp>
      <p:sp>
        <p:nvSpPr>
          <p:cNvPr id="10" name="Text 8"/>
          <p:cNvSpPr/>
          <p:nvPr/>
        </p:nvSpPr>
        <p:spPr>
          <a:xfrm>
            <a:off x="6537960" y="2103120"/>
            <a:ext cx="4572000" cy="411480"/>
          </a:xfrm>
          <a:prstGeom prst="rect">
            <a:avLst/>
          </a:prstGeom>
          <a:noFill/>
          <a:ln/>
        </p:spPr>
        <p:txBody>
          <a:bodyPr wrap="square" lIns="0" tIns="0" rIns="0" bIns="0" rtlCol="0" anchor="ctr"/>
          <a:lstStyle/>
          <a:p>
            <a:pPr indent="0" marL="0">
              <a:buNone/>
            </a:pPr>
            <a:r>
              <a:rPr lang="en-US" sz="1600" b="1" dirty="0">
                <a:solidFill>
                  <a:srgbClr val="1A2740"/>
                </a:solidFill>
                <a:latin typeface="Calibri" pitchFamily="34" charset="0"/>
                <a:ea typeface="Calibri" pitchFamily="34" charset="-122"/>
                <a:cs typeface="Calibri" pitchFamily="34" charset="-120"/>
              </a:rPr>
              <a:t>UE-B · Slice 2 (IoT)</a:t>
            </a:r>
            <a:endParaRPr lang="en-US" sz="1600" dirty="0"/>
          </a:p>
        </p:txBody>
      </p:sp>
      <p:sp>
        <p:nvSpPr>
          <p:cNvPr id="11" name="Text 9"/>
          <p:cNvSpPr/>
          <p:nvPr/>
        </p:nvSpPr>
        <p:spPr>
          <a:xfrm>
            <a:off x="6537960" y="2606040"/>
            <a:ext cx="4572000" cy="822960"/>
          </a:xfrm>
          <a:prstGeom prst="rect">
            <a:avLst/>
          </a:prstGeom>
          <a:noFill/>
          <a:ln/>
        </p:spPr>
        <p:txBody>
          <a:bodyPr wrap="square" lIns="0" tIns="0" rIns="0" bIns="0" rtlCol="0" anchor="ctr"/>
          <a:lstStyle/>
          <a:p>
            <a:pPr indent="0" marL="0">
              <a:buNone/>
            </a:pPr>
            <a:r>
              <a:rPr lang="en-US" sz="4000" b="1" dirty="0">
                <a:solidFill>
                  <a:srgbClr val="E0A419"/>
                </a:solidFill>
                <a:latin typeface="Cambria" pitchFamily="34" charset="0"/>
                <a:ea typeface="Cambria" pitchFamily="34" charset="-122"/>
                <a:cs typeface="Cambria" pitchFamily="34" charset="-120"/>
              </a:rPr>
              <a:t>10.46.0.2</a:t>
            </a:r>
            <a:endParaRPr lang="en-US" sz="4000" dirty="0"/>
          </a:p>
        </p:txBody>
      </p:sp>
      <p:sp>
        <p:nvSpPr>
          <p:cNvPr id="12" name="Text 10"/>
          <p:cNvSpPr/>
          <p:nvPr/>
        </p:nvSpPr>
        <p:spPr>
          <a:xfrm>
            <a:off x="6537960" y="3520440"/>
            <a:ext cx="4572000" cy="365760"/>
          </a:xfrm>
          <a:prstGeom prst="rect">
            <a:avLst/>
          </a:prstGeom>
          <a:noFill/>
          <a:ln/>
        </p:spPr>
        <p:txBody>
          <a:bodyPr wrap="square" lIns="0" tIns="0" rIns="0" bIns="0" rtlCol="0" anchor="ctr"/>
          <a:lstStyle/>
          <a:p>
            <a:pPr indent="0" marL="0">
              <a:buNone/>
            </a:pPr>
            <a:r>
              <a:rPr lang="en-US" sz="1350" dirty="0">
                <a:solidFill>
                  <a:srgbClr val="60708C"/>
                </a:solidFill>
                <a:latin typeface="Calibri" pitchFamily="34" charset="0"/>
                <a:ea typeface="Calibri" pitchFamily="34" charset="-122"/>
                <a:cs typeface="Calibri" pitchFamily="34" charset="-120"/>
              </a:rPr>
              <a:t>via upf-iot · DNN iot</a:t>
            </a:r>
            <a:endParaRPr lang="en-US" sz="1350" dirty="0"/>
          </a:p>
        </p:txBody>
      </p:sp>
      <p:sp>
        <p:nvSpPr>
          <p:cNvPr id="13" name="Text 11"/>
          <p:cNvSpPr/>
          <p:nvPr/>
        </p:nvSpPr>
        <p:spPr>
          <a:xfrm>
            <a:off x="6537960" y="3886200"/>
            <a:ext cx="4572000" cy="320040"/>
          </a:xfrm>
          <a:prstGeom prst="rect">
            <a:avLst/>
          </a:prstGeom>
          <a:noFill/>
          <a:ln/>
        </p:spPr>
        <p:txBody>
          <a:bodyPr wrap="square" lIns="0" tIns="0" rIns="0" bIns="0" rtlCol="0" anchor="ctr"/>
          <a:lstStyle/>
          <a:p>
            <a:pPr indent="0" marL="0">
              <a:buNone/>
            </a:pPr>
            <a:r>
              <a:rPr lang="en-US" sz="1150" i="1" dirty="0">
                <a:solidFill>
                  <a:srgbClr val="E0A419"/>
                </a:solidFill>
                <a:latin typeface="Calibri" pitchFamily="34" charset="0"/>
                <a:ea typeface="Calibri" pitchFamily="34" charset="-122"/>
                <a:cs typeface="Calibri" pitchFamily="34" charset="-120"/>
              </a:rPr>
              <a:t>uesimtun0 · internet egress OK</a:t>
            </a:r>
            <a:endParaRPr lang="en-US" sz="1150" dirty="0"/>
          </a:p>
        </p:txBody>
      </p:sp>
      <p:sp>
        <p:nvSpPr>
          <p:cNvPr id="14" name="Shape 12"/>
          <p:cNvSpPr/>
          <p:nvPr/>
        </p:nvSpPr>
        <p:spPr>
          <a:xfrm>
            <a:off x="822960" y="4617720"/>
            <a:ext cx="10515600" cy="1143000"/>
          </a:xfrm>
          <a:prstGeom prst="roundRect">
            <a:avLst>
              <a:gd name="adj" fmla="val 9600"/>
            </a:avLst>
          </a:prstGeom>
          <a:solidFill>
            <a:srgbClr val="0E1B33"/>
          </a:solidFill>
          <a:ln/>
          <a:effectLst>
            <a:outerShdw sx="100000" sy="100000" kx="0" ky="0" algn="bl" rotWithShape="0" blurRad="114300" dist="38100" dir="5400000">
              <a:srgbClr val="0B1220">
                <a:alpha val="15000"/>
              </a:srgbClr>
            </a:outerShdw>
          </a:effectLst>
        </p:spPr>
      </p:sp>
      <p:sp>
        <p:nvSpPr>
          <p:cNvPr id="15" name="Text 13"/>
          <p:cNvSpPr/>
          <p:nvPr/>
        </p:nvSpPr>
        <p:spPr>
          <a:xfrm>
            <a:off x="1143000" y="4800600"/>
            <a:ext cx="9966960" cy="822960"/>
          </a:xfrm>
          <a:prstGeom prst="rect">
            <a:avLst/>
          </a:prstGeom>
          <a:noFill/>
          <a:ln/>
        </p:spPr>
        <p:txBody>
          <a:bodyPr wrap="square" rtlCol="0" anchor="ctr"/>
          <a:lstStyle/>
          <a:p>
            <a:pPr indent="0" marL="0">
              <a:lnSpc>
                <a:spcPts val="2100"/>
              </a:lnSpc>
              <a:buNone/>
            </a:pPr>
            <a:r>
              <a:rPr lang="en-US" sz="1500" dirty="0">
                <a:solidFill>
                  <a:srgbClr val="FFFFFF"/>
                </a:solidFill>
                <a:latin typeface="Calibri" pitchFamily="34" charset="0"/>
                <a:ea typeface="Calibri" pitchFamily="34" charset="-122"/>
                <a:cs typeface="Calibri" pitchFamily="34" charset="-120"/>
              </a:rPr>
              <a:t>Both UEs attached to the same core, over the same gNB — but received addresses from two different pools and reach the internet through two different UPFs.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292608"/>
          </a:xfrm>
          <a:prstGeom prst="rect">
            <a:avLst/>
          </a:prstGeom>
          <a:noFill/>
          <a:ln/>
        </p:spPr>
        <p:txBody>
          <a:bodyPr wrap="square" rtlCol="0" anchor="ctr"/>
          <a:lstStyle/>
          <a:p>
            <a:pPr indent="0" marL="0">
              <a:buNone/>
            </a:pPr>
            <a:r>
              <a:rPr lang="en-US" sz="1200" b="1" spc="300" kern="0" dirty="0">
                <a:solidFill>
                  <a:srgbClr val="F96167"/>
                </a:solidFill>
                <a:latin typeface="Calibri" pitchFamily="34" charset="0"/>
                <a:ea typeface="Calibri" pitchFamily="34" charset="-122"/>
                <a:cs typeface="Calibri" pitchFamily="34" charset="-120"/>
              </a:rPr>
              <a:t>THE PROOF</a:t>
            </a:r>
            <a:endParaRPr lang="en-US" sz="1200" dirty="0"/>
          </a:p>
        </p:txBody>
      </p:sp>
      <p:sp>
        <p:nvSpPr>
          <p:cNvPr id="3" name="Text 1"/>
          <p:cNvSpPr/>
          <p:nvPr/>
        </p:nvSpPr>
        <p:spPr>
          <a:xfrm>
            <a:off x="822960" y="841248"/>
            <a:ext cx="10789920" cy="822960"/>
          </a:xfrm>
          <a:prstGeom prst="rect">
            <a:avLst/>
          </a:prstGeom>
          <a:noFill/>
          <a:ln/>
        </p:spPr>
        <p:txBody>
          <a:bodyPr wrap="square" rtlCol="0" anchor="ctr"/>
          <a:lstStyle/>
          <a:p>
            <a:pPr indent="0" marL="0">
              <a:buNone/>
            </a:pPr>
            <a:r>
              <a:rPr lang="en-US" sz="3100" b="1" dirty="0">
                <a:solidFill>
                  <a:srgbClr val="1A2740"/>
                </a:solidFill>
                <a:latin typeface="Cambria" pitchFamily="34" charset="0"/>
                <a:ea typeface="Cambria" pitchFamily="34" charset="-122"/>
                <a:cs typeface="Cambria" pitchFamily="34" charset="-120"/>
              </a:rPr>
              <a:t>Isolation — each slice rides only its own UPF</a:t>
            </a:r>
            <a:endParaRPr lang="en-US" sz="3100" dirty="0"/>
          </a:p>
        </p:txBody>
      </p:sp>
      <p:sp>
        <p:nvSpPr>
          <p:cNvPr id="4" name="Text 2"/>
          <p:cNvSpPr/>
          <p:nvPr/>
        </p:nvSpPr>
        <p:spPr>
          <a:xfrm>
            <a:off x="822960" y="1691640"/>
            <a:ext cx="10515600" cy="548640"/>
          </a:xfrm>
          <a:prstGeom prst="rect">
            <a:avLst/>
          </a:prstGeom>
          <a:noFill/>
          <a:ln/>
        </p:spPr>
        <p:txBody>
          <a:bodyPr wrap="square" rtlCol="0" anchor="ctr"/>
          <a:lstStyle/>
          <a:p>
            <a:pPr indent="0" marL="0">
              <a:buNone/>
            </a:pPr>
            <a:r>
              <a:rPr lang="en-US" sz="1400" dirty="0">
                <a:solidFill>
                  <a:srgbClr val="1A2740"/>
                </a:solidFill>
                <a:latin typeface="Calibri" pitchFamily="34" charset="0"/>
                <a:ea typeface="Calibri" pitchFamily="34" charset="-122"/>
                <a:cs typeface="Calibri" pitchFamily="34" charset="-120"/>
              </a:rPr>
              <a:t>We captured on each UPF's data interface while both UEs pinged. Each UPF saw only its own slice's subnet — never the other's:</a:t>
            </a:r>
            <a:endParaRPr lang="en-US" sz="1400" dirty="0"/>
          </a:p>
        </p:txBody>
      </p:sp>
      <p:sp>
        <p:nvSpPr>
          <p:cNvPr id="5" name="Shape 3"/>
          <p:cNvSpPr/>
          <p:nvPr/>
        </p:nvSpPr>
        <p:spPr>
          <a:xfrm>
            <a:off x="822960" y="2377440"/>
            <a:ext cx="5120640" cy="2331720"/>
          </a:xfrm>
          <a:prstGeom prst="roundRect">
            <a:avLst>
              <a:gd name="adj" fmla="val 3922"/>
            </a:avLst>
          </a:prstGeom>
          <a:solidFill>
            <a:srgbClr val="E9F7F5"/>
          </a:solidFill>
          <a:ln/>
          <a:effectLst>
            <a:outerShdw sx="100000" sy="100000" kx="0" ky="0" algn="bl" rotWithShape="0" blurRad="114300" dist="38100" dir="5400000">
              <a:srgbClr val="0B1220">
                <a:alpha val="15000"/>
              </a:srgbClr>
            </a:outerShdw>
          </a:effectLst>
        </p:spPr>
      </p:sp>
      <p:sp>
        <p:nvSpPr>
          <p:cNvPr id="6" name="Text 4"/>
          <p:cNvSpPr/>
          <p:nvPr/>
        </p:nvSpPr>
        <p:spPr>
          <a:xfrm>
            <a:off x="1143000" y="2560320"/>
            <a:ext cx="457200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upf  (slice 1)</a:t>
            </a:r>
            <a:endParaRPr lang="en-US" sz="1500" dirty="0"/>
          </a:p>
        </p:txBody>
      </p:sp>
      <p:sp>
        <p:nvSpPr>
          <p:cNvPr id="7" name="Text 5"/>
          <p:cNvSpPr/>
          <p:nvPr/>
        </p:nvSpPr>
        <p:spPr>
          <a:xfrm>
            <a:off x="1143000" y="3017520"/>
            <a:ext cx="4663440" cy="320040"/>
          </a:xfrm>
          <a:prstGeom prst="rect">
            <a:avLst/>
          </a:prstGeom>
          <a:noFill/>
          <a:ln/>
        </p:spPr>
        <p:txBody>
          <a:bodyPr wrap="square" lIns="0" tIns="0" rIns="0" bIns="0" rtlCol="0" anchor="ctr"/>
          <a:lstStyle/>
          <a:p>
            <a:pPr indent="0" marL="0">
              <a:buNone/>
            </a:pPr>
            <a:r>
              <a:rPr lang="en-US" sz="1100" dirty="0">
                <a:solidFill>
                  <a:srgbClr val="1A2740"/>
                </a:solidFill>
                <a:latin typeface="Courier New" pitchFamily="34" charset="0"/>
                <a:ea typeface="Courier New" pitchFamily="34" charset="-122"/>
                <a:cs typeface="Courier New" pitchFamily="34" charset="-120"/>
              </a:rPr>
              <a:t>10.45.0.2 &gt; 8.8.8.8  ICMP echo request</a:t>
            </a:r>
            <a:endParaRPr lang="en-US" sz="1100" dirty="0"/>
          </a:p>
        </p:txBody>
      </p:sp>
      <p:sp>
        <p:nvSpPr>
          <p:cNvPr id="8" name="Text 6"/>
          <p:cNvSpPr/>
          <p:nvPr/>
        </p:nvSpPr>
        <p:spPr>
          <a:xfrm>
            <a:off x="1143000" y="3364992"/>
            <a:ext cx="4663440" cy="320040"/>
          </a:xfrm>
          <a:prstGeom prst="rect">
            <a:avLst/>
          </a:prstGeom>
          <a:noFill/>
          <a:ln/>
        </p:spPr>
        <p:txBody>
          <a:bodyPr wrap="square" lIns="0" tIns="0" rIns="0" bIns="0" rtlCol="0" anchor="ctr"/>
          <a:lstStyle/>
          <a:p>
            <a:pPr indent="0" marL="0">
              <a:buNone/>
            </a:pPr>
            <a:r>
              <a:rPr lang="en-US" sz="1100" dirty="0">
                <a:solidFill>
                  <a:srgbClr val="60708C"/>
                </a:solidFill>
                <a:latin typeface="Courier New" pitchFamily="34" charset="0"/>
                <a:ea typeface="Courier New" pitchFamily="34" charset="-122"/>
                <a:cs typeface="Courier New" pitchFamily="34" charset="-120"/>
              </a:rPr>
              <a:t>8.8.8.8 &gt; 10.45.0.2  ICMP echo reply</a:t>
            </a:r>
            <a:endParaRPr lang="en-US" sz="1100" dirty="0"/>
          </a:p>
        </p:txBody>
      </p:sp>
      <p:sp>
        <p:nvSpPr>
          <p:cNvPr id="9" name="Shape 7"/>
          <p:cNvSpPr/>
          <p:nvPr/>
        </p:nvSpPr>
        <p:spPr>
          <a:xfrm>
            <a:off x="1115568" y="3977640"/>
            <a:ext cx="457200" cy="457200"/>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10" name="Text 8"/>
          <p:cNvSpPr/>
          <p:nvPr/>
        </p:nvSpPr>
        <p:spPr>
          <a:xfrm>
            <a:off x="1115568" y="3977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1691640" y="3977640"/>
            <a:ext cx="4023360" cy="457200"/>
          </a:xfrm>
          <a:prstGeom prst="rect">
            <a:avLst/>
          </a:prstGeom>
          <a:noFill/>
          <a:ln/>
        </p:spPr>
        <p:txBody>
          <a:bodyPr wrap="square" lIns="0" tIns="0" rIns="0" bIns="0" rtlCol="0" anchor="ctr"/>
          <a:lstStyle/>
          <a:p>
            <a:pPr indent="0" marL="0">
              <a:buNone/>
            </a:pPr>
            <a:r>
              <a:rPr lang="en-US" sz="1350" b="1" dirty="0">
                <a:solidFill>
                  <a:srgbClr val="1A2740"/>
                </a:solidFill>
                <a:latin typeface="Calibri" pitchFamily="34" charset="0"/>
                <a:ea typeface="Calibri" pitchFamily="34" charset="-122"/>
                <a:cs typeface="Calibri" pitchFamily="34" charset="-120"/>
              </a:rPr>
              <a:t>only 10.45.x seen</a:t>
            </a:r>
            <a:endParaRPr lang="en-US" sz="1350" dirty="0"/>
          </a:p>
        </p:txBody>
      </p:sp>
      <p:sp>
        <p:nvSpPr>
          <p:cNvPr id="12" name="Shape 10"/>
          <p:cNvSpPr/>
          <p:nvPr/>
        </p:nvSpPr>
        <p:spPr>
          <a:xfrm>
            <a:off x="6217920" y="2377440"/>
            <a:ext cx="5120640" cy="2331720"/>
          </a:xfrm>
          <a:prstGeom prst="roundRect">
            <a:avLst>
              <a:gd name="adj" fmla="val 3922"/>
            </a:avLst>
          </a:prstGeom>
          <a:solidFill>
            <a:srgbClr val="FBF1DA"/>
          </a:solidFill>
          <a:ln/>
          <a:effectLst>
            <a:outerShdw sx="100000" sy="100000" kx="0" ky="0" algn="bl" rotWithShape="0" blurRad="114300" dist="38100" dir="5400000">
              <a:srgbClr val="0B1220">
                <a:alpha val="15000"/>
              </a:srgbClr>
            </a:outerShdw>
          </a:effectLst>
        </p:spPr>
      </p:sp>
      <p:sp>
        <p:nvSpPr>
          <p:cNvPr id="13" name="Text 11"/>
          <p:cNvSpPr/>
          <p:nvPr/>
        </p:nvSpPr>
        <p:spPr>
          <a:xfrm>
            <a:off x="6537960" y="2560320"/>
            <a:ext cx="4572000" cy="365760"/>
          </a:xfrm>
          <a:prstGeom prst="rect">
            <a:avLst/>
          </a:prstGeom>
          <a:noFill/>
          <a:ln/>
        </p:spPr>
        <p:txBody>
          <a:bodyPr wrap="square" lIns="0" tIns="0" rIns="0" bIns="0" rtlCol="0" anchor="ctr"/>
          <a:lstStyle/>
          <a:p>
            <a:pPr indent="0" marL="0">
              <a:buNone/>
            </a:pPr>
            <a:r>
              <a:rPr lang="en-US" sz="1500" b="1" dirty="0">
                <a:solidFill>
                  <a:srgbClr val="1A2740"/>
                </a:solidFill>
                <a:latin typeface="Calibri" pitchFamily="34" charset="0"/>
                <a:ea typeface="Calibri" pitchFamily="34" charset="-122"/>
                <a:cs typeface="Calibri" pitchFamily="34" charset="-120"/>
              </a:rPr>
              <a:t>upf-iot  (slice 2)</a:t>
            </a:r>
            <a:endParaRPr lang="en-US" sz="1500" dirty="0"/>
          </a:p>
        </p:txBody>
      </p:sp>
      <p:sp>
        <p:nvSpPr>
          <p:cNvPr id="14" name="Text 12"/>
          <p:cNvSpPr/>
          <p:nvPr/>
        </p:nvSpPr>
        <p:spPr>
          <a:xfrm>
            <a:off x="6537960" y="3017520"/>
            <a:ext cx="4663440" cy="320040"/>
          </a:xfrm>
          <a:prstGeom prst="rect">
            <a:avLst/>
          </a:prstGeom>
          <a:noFill/>
          <a:ln/>
        </p:spPr>
        <p:txBody>
          <a:bodyPr wrap="square" lIns="0" tIns="0" rIns="0" bIns="0" rtlCol="0" anchor="ctr"/>
          <a:lstStyle/>
          <a:p>
            <a:pPr indent="0" marL="0">
              <a:buNone/>
            </a:pPr>
            <a:r>
              <a:rPr lang="en-US" sz="1100" dirty="0">
                <a:solidFill>
                  <a:srgbClr val="1A2740"/>
                </a:solidFill>
                <a:latin typeface="Courier New" pitchFamily="34" charset="0"/>
                <a:ea typeface="Courier New" pitchFamily="34" charset="-122"/>
                <a:cs typeface="Courier New" pitchFamily="34" charset="-120"/>
              </a:rPr>
              <a:t>10.46.0.2 &gt; 8.8.8.8  ICMP echo request</a:t>
            </a:r>
            <a:endParaRPr lang="en-US" sz="1100" dirty="0"/>
          </a:p>
        </p:txBody>
      </p:sp>
      <p:sp>
        <p:nvSpPr>
          <p:cNvPr id="15" name="Text 13"/>
          <p:cNvSpPr/>
          <p:nvPr/>
        </p:nvSpPr>
        <p:spPr>
          <a:xfrm>
            <a:off x="6537960" y="3364992"/>
            <a:ext cx="4663440" cy="320040"/>
          </a:xfrm>
          <a:prstGeom prst="rect">
            <a:avLst/>
          </a:prstGeom>
          <a:noFill/>
          <a:ln/>
        </p:spPr>
        <p:txBody>
          <a:bodyPr wrap="square" lIns="0" tIns="0" rIns="0" bIns="0" rtlCol="0" anchor="ctr"/>
          <a:lstStyle/>
          <a:p>
            <a:pPr indent="0" marL="0">
              <a:buNone/>
            </a:pPr>
            <a:r>
              <a:rPr lang="en-US" sz="1100" dirty="0">
                <a:solidFill>
                  <a:srgbClr val="60708C"/>
                </a:solidFill>
                <a:latin typeface="Courier New" pitchFamily="34" charset="0"/>
                <a:ea typeface="Courier New" pitchFamily="34" charset="-122"/>
                <a:cs typeface="Courier New" pitchFamily="34" charset="-120"/>
              </a:rPr>
              <a:t>8.8.8.8 &gt; 10.46.0.2  ICMP echo reply</a:t>
            </a:r>
            <a:endParaRPr lang="en-US" sz="1100" dirty="0"/>
          </a:p>
        </p:txBody>
      </p:sp>
      <p:sp>
        <p:nvSpPr>
          <p:cNvPr id="16" name="Shape 14"/>
          <p:cNvSpPr/>
          <p:nvPr/>
        </p:nvSpPr>
        <p:spPr>
          <a:xfrm>
            <a:off x="6510528" y="3977640"/>
            <a:ext cx="457200" cy="457200"/>
          </a:xfrm>
          <a:prstGeom prst="ellipse">
            <a:avLst/>
          </a:prstGeom>
          <a:solidFill>
            <a:srgbClr val="E0A419"/>
          </a:solidFill>
          <a:ln/>
          <a:effectLst>
            <a:outerShdw sx="100000" sy="100000" kx="0" ky="0" algn="bl" rotWithShape="0" blurRad="76200" dist="38100" dir="5400000">
              <a:srgbClr val="0B1220">
                <a:alpha val="20000"/>
              </a:srgbClr>
            </a:outerShdw>
          </a:effectLst>
        </p:spPr>
      </p:sp>
      <p:sp>
        <p:nvSpPr>
          <p:cNvPr id="17" name="Text 15"/>
          <p:cNvSpPr/>
          <p:nvPr/>
        </p:nvSpPr>
        <p:spPr>
          <a:xfrm>
            <a:off x="6510528" y="3977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8" name="Text 16"/>
          <p:cNvSpPr/>
          <p:nvPr/>
        </p:nvSpPr>
        <p:spPr>
          <a:xfrm>
            <a:off x="7086600" y="3977640"/>
            <a:ext cx="4023360" cy="457200"/>
          </a:xfrm>
          <a:prstGeom prst="rect">
            <a:avLst/>
          </a:prstGeom>
          <a:noFill/>
          <a:ln/>
        </p:spPr>
        <p:txBody>
          <a:bodyPr wrap="square" lIns="0" tIns="0" rIns="0" bIns="0" rtlCol="0" anchor="ctr"/>
          <a:lstStyle/>
          <a:p>
            <a:pPr indent="0" marL="0">
              <a:buNone/>
            </a:pPr>
            <a:r>
              <a:rPr lang="en-US" sz="1350" b="1" dirty="0">
                <a:solidFill>
                  <a:srgbClr val="1A2740"/>
                </a:solidFill>
                <a:latin typeface="Calibri" pitchFamily="34" charset="0"/>
                <a:ea typeface="Calibri" pitchFamily="34" charset="-122"/>
                <a:cs typeface="Calibri" pitchFamily="34" charset="-120"/>
              </a:rPr>
              <a:t>only 10.46.x seen</a:t>
            </a:r>
            <a:endParaRPr lang="en-US" sz="1350" dirty="0"/>
          </a:p>
        </p:txBody>
      </p:sp>
      <p:sp>
        <p:nvSpPr>
          <p:cNvPr id="19" name="Text 17"/>
          <p:cNvSpPr/>
          <p:nvPr/>
        </p:nvSpPr>
        <p:spPr>
          <a:xfrm>
            <a:off x="822960" y="4983480"/>
            <a:ext cx="10515600" cy="457200"/>
          </a:xfrm>
          <a:prstGeom prst="rect">
            <a:avLst/>
          </a:prstGeom>
          <a:noFill/>
          <a:ln/>
        </p:spPr>
        <p:txBody>
          <a:bodyPr wrap="square" rtlCol="0" anchor="ctr"/>
          <a:lstStyle/>
          <a:p>
            <a:pPr algn="ctr" indent="0" marL="0">
              <a:buNone/>
            </a:pPr>
            <a:r>
              <a:rPr lang="en-US" sz="1500" b="1" dirty="0">
                <a:solidFill>
                  <a:srgbClr val="F96167"/>
                </a:solidFill>
                <a:latin typeface="Calibri" pitchFamily="34" charset="0"/>
                <a:ea typeface="Calibri" pitchFamily="34" charset="-122"/>
                <a:cs typeface="Calibri" pitchFamily="34" charset="-120"/>
              </a:rPr>
              <a:t>Neither UPF ever saw the other slice's traffic → physical user-plane isolation, proven.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B33"/>
        </a:solidFill>
      </p:bgPr>
    </p:bg>
    <p:spTree>
      <p:nvGrpSpPr>
        <p:cNvPr id="1" name=""/>
        <p:cNvGrpSpPr/>
        <p:nvPr/>
      </p:nvGrpSpPr>
      <p:grpSpPr>
        <a:xfrm>
          <a:off x="0" y="0"/>
          <a:ext cx="0" cy="0"/>
          <a:chOff x="0" y="0"/>
          <a:chExt cx="0" cy="0"/>
        </a:xfrm>
      </p:grpSpPr>
      <p:sp>
        <p:nvSpPr>
          <p:cNvPr id="2" name="Shape 0"/>
          <p:cNvSpPr/>
          <p:nvPr/>
        </p:nvSpPr>
        <p:spPr>
          <a:xfrm>
            <a:off x="-1463040" y="3840480"/>
            <a:ext cx="4754880" cy="4754880"/>
          </a:xfrm>
          <a:prstGeom prst="ellipse">
            <a:avLst/>
          </a:prstGeom>
          <a:solidFill>
            <a:srgbClr val="17284C"/>
          </a:solidFill>
          <a:ln/>
        </p:spPr>
      </p:sp>
      <p:sp>
        <p:nvSpPr>
          <p:cNvPr id="3" name="Text 1"/>
          <p:cNvSpPr/>
          <p:nvPr/>
        </p:nvSpPr>
        <p:spPr>
          <a:xfrm>
            <a:off x="0" y="0"/>
            <a:ext cx="10058400" cy="292608"/>
          </a:xfrm>
          <a:prstGeom prst="rect">
            <a:avLst/>
          </a:prstGeom>
          <a:noFill/>
          <a:ln/>
        </p:spPr>
        <p:txBody>
          <a:bodyPr wrap="square" rtlCol="0" anchor="ctr"/>
          <a:lstStyle/>
          <a:p>
            <a:pPr indent="0" marL="0">
              <a:buNone/>
            </a:pPr>
            <a:r>
              <a:rPr lang="en-US" sz="1200" b="1" spc="300" kern="0" dirty="0">
                <a:solidFill>
                  <a:srgbClr val="12B3A6"/>
                </a:solidFill>
                <a:latin typeface="Calibri" pitchFamily="34" charset="0"/>
                <a:ea typeface="Calibri" pitchFamily="34" charset="-122"/>
                <a:cs typeface="Calibri" pitchFamily="34" charset="-120"/>
              </a:rPr>
              <a:t>SO WHAT</a:t>
            </a:r>
            <a:endParaRPr lang="en-US" sz="1200" dirty="0"/>
          </a:p>
        </p:txBody>
      </p:sp>
      <p:sp>
        <p:nvSpPr>
          <p:cNvPr id="4" name="Text 2"/>
          <p:cNvSpPr/>
          <p:nvPr/>
        </p:nvSpPr>
        <p:spPr>
          <a:xfrm>
            <a:off x="822960" y="1051560"/>
            <a:ext cx="10789920" cy="822960"/>
          </a:xfrm>
          <a:prstGeom prst="rect">
            <a:avLst/>
          </a:prstGeom>
          <a:noFill/>
          <a:ln/>
        </p:spPr>
        <p:txBody>
          <a:bodyPr wrap="square"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Slicing as a containment boundary</a:t>
            </a:r>
            <a:endParaRPr lang="en-US" sz="3100" dirty="0"/>
          </a:p>
        </p:txBody>
      </p:sp>
      <p:sp>
        <p:nvSpPr>
          <p:cNvPr id="5" name="Text 3"/>
          <p:cNvSpPr/>
          <p:nvPr/>
        </p:nvSpPr>
        <p:spPr>
          <a:xfrm>
            <a:off x="822960" y="2194560"/>
            <a:ext cx="10241280" cy="457200"/>
          </a:xfrm>
          <a:prstGeom prst="rect">
            <a:avLst/>
          </a:prstGeom>
          <a:noFill/>
          <a:ln/>
        </p:spPr>
        <p:txBody>
          <a:bodyPr wrap="square" rtlCol="0" anchor="t"/>
          <a:lstStyle/>
          <a:p>
            <a:pPr marL="203200" indent="-203200">
              <a:spcAft>
                <a:spcPts val="1200"/>
              </a:spcAft>
              <a:buSzPct val="100000"/>
              <a:buChar char="•"/>
            </a:pPr>
            <a:r>
              <a:rPr lang="en-US" sz="1600" dirty="0">
                <a:solidFill>
                  <a:srgbClr val="C7D4EA"/>
                </a:solidFill>
                <a:latin typeface="Calibri" pitchFamily="34" charset="0"/>
                <a:ea typeface="Calibri" pitchFamily="34" charset="-122"/>
                <a:cs typeface="Calibri" pitchFamily="34" charset="-120"/>
              </a:rPr>
              <a:t>We built and proved real network slicing on the lab: two slices, two user planes, isolation demonstrated by capture.</a:t>
            </a:r>
            <a:endParaRPr lang="en-US" sz="1600" dirty="0"/>
          </a:p>
          <a:p>
            <a:pPr marL="203200" indent="-203200">
              <a:spcAft>
                <a:spcPts val="1200"/>
              </a:spcAft>
              <a:buSzPct val="100000"/>
              <a:buChar char="•"/>
            </a:pPr>
            <a:r>
              <a:rPr lang="en-US" sz="1600" dirty="0">
                <a:solidFill>
                  <a:srgbClr val="C7D4EA"/>
                </a:solidFill>
                <a:latin typeface="Calibri" pitchFamily="34" charset="0"/>
                <a:ea typeface="Calibri" pitchFamily="34" charset="-122"/>
                <a:cs typeface="Calibri" pitchFamily="34" charset="-120"/>
              </a:rPr>
              <a:t>Isolation isn't just performance — it's security: a surge or attack in one slice stays contained.</a:t>
            </a:r>
            <a:endParaRPr lang="en-US" sz="1600" dirty="0"/>
          </a:p>
          <a:p>
            <a:pPr marL="203200" indent="-203200">
              <a:spcAft>
                <a:spcPts val="1200"/>
              </a:spcAft>
              <a:buSzPct val="100000"/>
              <a:buChar char="•"/>
            </a:pPr>
            <a:r>
              <a:rPr lang="en-US" sz="1600" dirty="0">
                <a:solidFill>
                  <a:srgbClr val="C7D4EA"/>
                </a:solidFill>
                <a:latin typeface="Calibri" pitchFamily="34" charset="0"/>
                <a:ea typeface="Calibri" pitchFamily="34" charset="-122"/>
                <a:cs typeface="Calibri" pitchFamily="34" charset="-120"/>
              </a:rPr>
              <a:t>This is the foundation for the MEC edge demo and the self-securing story.</a:t>
            </a:r>
            <a:endParaRPr lang="en-US" sz="1600" dirty="0"/>
          </a:p>
        </p:txBody>
      </p:sp>
      <p:sp>
        <p:nvSpPr>
          <p:cNvPr id="6" name="Text 4"/>
          <p:cNvSpPr/>
          <p:nvPr/>
        </p:nvSpPr>
        <p:spPr>
          <a:xfrm>
            <a:off x="822960" y="4023360"/>
            <a:ext cx="2743200" cy="365760"/>
          </a:xfrm>
          <a:prstGeom prst="rect">
            <a:avLst/>
          </a:prstGeom>
          <a:noFill/>
          <a:ln/>
        </p:spPr>
        <p:txBody>
          <a:bodyPr wrap="square" rtlCol="0" anchor="ctr"/>
          <a:lstStyle/>
          <a:p>
            <a:pPr indent="0" marL="0">
              <a:buNone/>
            </a:pPr>
            <a:r>
              <a:rPr lang="en-US" sz="1300" b="1" spc="200" kern="0" dirty="0">
                <a:solidFill>
                  <a:srgbClr val="12B3A6"/>
                </a:solidFill>
                <a:latin typeface="Calibri" pitchFamily="34" charset="0"/>
                <a:ea typeface="Calibri" pitchFamily="34" charset="-122"/>
                <a:cs typeface="Calibri" pitchFamily="34" charset="-120"/>
              </a:rPr>
              <a:t>Next</a:t>
            </a:r>
            <a:endParaRPr lang="en-US" sz="1300" dirty="0"/>
          </a:p>
        </p:txBody>
      </p:sp>
      <p:sp>
        <p:nvSpPr>
          <p:cNvPr id="7" name="Shape 5"/>
          <p:cNvSpPr/>
          <p:nvPr/>
        </p:nvSpPr>
        <p:spPr>
          <a:xfrm>
            <a:off x="822960" y="4434840"/>
            <a:ext cx="3246120" cy="1188720"/>
          </a:xfrm>
          <a:prstGeom prst="roundRect">
            <a:avLst>
              <a:gd name="adj" fmla="val 6923"/>
            </a:avLst>
          </a:prstGeom>
          <a:solidFill>
            <a:srgbClr val="17284C"/>
          </a:solidFill>
          <a:ln/>
          <a:effectLst>
            <a:outerShdw sx="100000" sy="100000" kx="0" ky="0" algn="bl" rotWithShape="0" blurRad="114300" dist="38100" dir="5400000">
              <a:srgbClr val="0B1220">
                <a:alpha val="15000"/>
              </a:srgbClr>
            </a:outerShdw>
          </a:effectLst>
        </p:spPr>
      </p:sp>
      <p:sp>
        <p:nvSpPr>
          <p:cNvPr id="8" name="Shape 6"/>
          <p:cNvSpPr/>
          <p:nvPr/>
        </p:nvSpPr>
        <p:spPr>
          <a:xfrm>
            <a:off x="1051560" y="4663440"/>
            <a:ext cx="457200" cy="457200"/>
          </a:xfrm>
          <a:prstGeom prst="ellipse">
            <a:avLst/>
          </a:prstGeom>
          <a:solidFill>
            <a:srgbClr val="F96167"/>
          </a:solidFill>
          <a:ln/>
          <a:effectLst>
            <a:outerShdw sx="100000" sy="100000" kx="0" ky="0" algn="bl" rotWithShape="0" blurRad="76200" dist="38100" dir="5400000">
              <a:srgbClr val="0B1220">
                <a:alpha val="20000"/>
              </a:srgbClr>
            </a:outerShdw>
          </a:effectLst>
        </p:spPr>
      </p:sp>
      <p:sp>
        <p:nvSpPr>
          <p:cNvPr id="9" name="Text 7"/>
          <p:cNvSpPr/>
          <p:nvPr/>
        </p:nvSpPr>
        <p:spPr>
          <a:xfrm>
            <a:off x="105156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p:nvPr/>
        </p:nvSpPr>
        <p:spPr>
          <a:xfrm>
            <a:off x="1645920" y="4590288"/>
            <a:ext cx="22860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Attack one slice</a:t>
            </a:r>
            <a:endParaRPr lang="en-US" sz="1300" dirty="0"/>
          </a:p>
        </p:txBody>
      </p:sp>
      <p:sp>
        <p:nvSpPr>
          <p:cNvPr id="11" name="Text 9"/>
          <p:cNvSpPr/>
          <p:nvPr/>
        </p:nvSpPr>
        <p:spPr>
          <a:xfrm>
            <a:off x="1645920" y="4956048"/>
            <a:ext cx="2331720" cy="457200"/>
          </a:xfrm>
          <a:prstGeom prst="rect">
            <a:avLst/>
          </a:prstGeom>
          <a:noFill/>
          <a:ln/>
        </p:spPr>
        <p:txBody>
          <a:bodyPr wrap="square" lIns="0" tIns="0" rIns="0" bIns="0" rtlCol="0" anchor="ctr"/>
          <a:lstStyle/>
          <a:p>
            <a:pPr indent="0" marL="0">
              <a:lnSpc>
                <a:spcPts val="1300"/>
              </a:lnSpc>
              <a:buNone/>
            </a:pPr>
            <a:r>
              <a:rPr lang="en-US" sz="1100" dirty="0">
                <a:solidFill>
                  <a:srgbClr val="AFBDD6"/>
                </a:solidFill>
                <a:latin typeface="Calibri" pitchFamily="34" charset="0"/>
                <a:ea typeface="Calibri" pitchFamily="34" charset="-122"/>
                <a:cs typeface="Calibri" pitchFamily="34" charset="-120"/>
              </a:rPr>
              <a:t>show the other stays clean</a:t>
            </a:r>
            <a:endParaRPr lang="en-US" sz="1100" dirty="0"/>
          </a:p>
        </p:txBody>
      </p:sp>
      <p:sp>
        <p:nvSpPr>
          <p:cNvPr id="12" name="Shape 10"/>
          <p:cNvSpPr/>
          <p:nvPr/>
        </p:nvSpPr>
        <p:spPr>
          <a:xfrm>
            <a:off x="4343400" y="4434840"/>
            <a:ext cx="3246120" cy="1188720"/>
          </a:xfrm>
          <a:prstGeom prst="roundRect">
            <a:avLst>
              <a:gd name="adj" fmla="val 6923"/>
            </a:avLst>
          </a:prstGeom>
          <a:solidFill>
            <a:srgbClr val="17284C"/>
          </a:solidFill>
          <a:ln/>
          <a:effectLst>
            <a:outerShdw sx="100000" sy="100000" kx="0" ky="0" algn="bl" rotWithShape="0" blurRad="114300" dist="38100" dir="5400000">
              <a:srgbClr val="0B1220">
                <a:alpha val="15000"/>
              </a:srgbClr>
            </a:outerShdw>
          </a:effectLst>
        </p:spPr>
      </p:sp>
      <p:sp>
        <p:nvSpPr>
          <p:cNvPr id="13" name="Shape 11"/>
          <p:cNvSpPr/>
          <p:nvPr/>
        </p:nvSpPr>
        <p:spPr>
          <a:xfrm>
            <a:off x="4572000" y="4663440"/>
            <a:ext cx="457200" cy="457200"/>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14" name="Text 12"/>
          <p:cNvSpPr/>
          <p:nvPr/>
        </p:nvSpPr>
        <p:spPr>
          <a:xfrm>
            <a:off x="457200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p:nvPr/>
        </p:nvSpPr>
        <p:spPr>
          <a:xfrm>
            <a:off x="5166360" y="4590288"/>
            <a:ext cx="22860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MEC edge demo</a:t>
            </a:r>
            <a:endParaRPr lang="en-US" sz="1300" dirty="0"/>
          </a:p>
        </p:txBody>
      </p:sp>
      <p:sp>
        <p:nvSpPr>
          <p:cNvPr id="16" name="Text 14"/>
          <p:cNvSpPr/>
          <p:nvPr/>
        </p:nvSpPr>
        <p:spPr>
          <a:xfrm>
            <a:off x="5166360" y="4956048"/>
            <a:ext cx="2331720" cy="457200"/>
          </a:xfrm>
          <a:prstGeom prst="rect">
            <a:avLst/>
          </a:prstGeom>
          <a:noFill/>
          <a:ln/>
        </p:spPr>
        <p:txBody>
          <a:bodyPr wrap="square" lIns="0" tIns="0" rIns="0" bIns="0" rtlCol="0" anchor="ctr"/>
          <a:lstStyle/>
          <a:p>
            <a:pPr indent="0" marL="0">
              <a:lnSpc>
                <a:spcPts val="1300"/>
              </a:lnSpc>
              <a:buNone/>
            </a:pPr>
            <a:r>
              <a:rPr lang="en-US" sz="1100" dirty="0">
                <a:solidFill>
                  <a:srgbClr val="AFBDD6"/>
                </a:solidFill>
                <a:latin typeface="Calibri" pitchFamily="34" charset="0"/>
                <a:ea typeface="Calibri" pitchFamily="34" charset="-122"/>
                <a:cs typeface="Calibri" pitchFamily="34" charset="-120"/>
              </a:rPr>
              <a:t>reuse the 2nd-UPF plumbing</a:t>
            </a:r>
            <a:endParaRPr lang="en-US" sz="1100" dirty="0"/>
          </a:p>
        </p:txBody>
      </p:sp>
      <p:sp>
        <p:nvSpPr>
          <p:cNvPr id="17" name="Shape 15"/>
          <p:cNvSpPr/>
          <p:nvPr/>
        </p:nvSpPr>
        <p:spPr>
          <a:xfrm>
            <a:off x="7863840" y="4434840"/>
            <a:ext cx="3246120" cy="1188720"/>
          </a:xfrm>
          <a:prstGeom prst="roundRect">
            <a:avLst>
              <a:gd name="adj" fmla="val 6923"/>
            </a:avLst>
          </a:prstGeom>
          <a:solidFill>
            <a:srgbClr val="17284C"/>
          </a:solidFill>
          <a:ln/>
          <a:effectLst>
            <a:outerShdw sx="100000" sy="100000" kx="0" ky="0" algn="bl" rotWithShape="0" blurRad="114300" dist="38100" dir="5400000">
              <a:srgbClr val="0B1220">
                <a:alpha val="15000"/>
              </a:srgbClr>
            </a:outerShdw>
          </a:effectLst>
        </p:spPr>
      </p:sp>
      <p:sp>
        <p:nvSpPr>
          <p:cNvPr id="18" name="Shape 16"/>
          <p:cNvSpPr/>
          <p:nvPr/>
        </p:nvSpPr>
        <p:spPr>
          <a:xfrm>
            <a:off x="8092440" y="4663440"/>
            <a:ext cx="457200" cy="457200"/>
          </a:xfrm>
          <a:prstGeom prst="ellipse">
            <a:avLst/>
          </a:prstGeom>
          <a:solidFill>
            <a:srgbClr val="12B3A6"/>
          </a:solidFill>
          <a:ln/>
          <a:effectLst>
            <a:outerShdw sx="100000" sy="100000" kx="0" ky="0" algn="bl" rotWithShape="0" blurRad="76200" dist="38100" dir="5400000">
              <a:srgbClr val="0B1220">
                <a:alpha val="20000"/>
              </a:srgbClr>
            </a:outerShdw>
          </a:effectLst>
        </p:spPr>
      </p:sp>
      <p:sp>
        <p:nvSpPr>
          <p:cNvPr id="19" name="Text 17"/>
          <p:cNvSpPr/>
          <p:nvPr/>
        </p:nvSpPr>
        <p:spPr>
          <a:xfrm>
            <a:off x="809244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p:nvPr/>
        </p:nvSpPr>
        <p:spPr>
          <a:xfrm>
            <a:off x="8686800" y="4590288"/>
            <a:ext cx="22860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Per-slice detection</a:t>
            </a:r>
            <a:endParaRPr lang="en-US" sz="1300" dirty="0"/>
          </a:p>
        </p:txBody>
      </p:sp>
      <p:sp>
        <p:nvSpPr>
          <p:cNvPr id="21" name="Text 19"/>
          <p:cNvSpPr/>
          <p:nvPr/>
        </p:nvSpPr>
        <p:spPr>
          <a:xfrm>
            <a:off x="8686800" y="4956048"/>
            <a:ext cx="2331720" cy="457200"/>
          </a:xfrm>
          <a:prstGeom prst="rect">
            <a:avLst/>
          </a:prstGeom>
          <a:noFill/>
          <a:ln/>
        </p:spPr>
        <p:txBody>
          <a:bodyPr wrap="square" lIns="0" tIns="0" rIns="0" bIns="0" rtlCol="0" anchor="ctr"/>
          <a:lstStyle/>
          <a:p>
            <a:pPr indent="0" marL="0">
              <a:lnSpc>
                <a:spcPts val="1300"/>
              </a:lnSpc>
              <a:buNone/>
            </a:pPr>
            <a:r>
              <a:rPr lang="en-US" sz="1100" dirty="0">
                <a:solidFill>
                  <a:srgbClr val="AFBDD6"/>
                </a:solidFill>
                <a:latin typeface="Calibri" pitchFamily="34" charset="0"/>
                <a:ea typeface="Calibri" pitchFamily="34" charset="-122"/>
                <a:cs typeface="Calibri" pitchFamily="34" charset="-120"/>
              </a:rPr>
              <a:t>the detector scopes to each UPF</a:t>
            </a:r>
            <a:endParaRPr lang="en-US" sz="1100" dirty="0"/>
          </a:p>
        </p:txBody>
      </p:sp>
      <p:sp>
        <p:nvSpPr>
          <p:cNvPr id="22" name="Text 20"/>
          <p:cNvSpPr/>
          <p:nvPr/>
        </p:nvSpPr>
        <p:spPr>
          <a:xfrm>
            <a:off x="822960" y="6309360"/>
            <a:ext cx="10515600" cy="320040"/>
          </a:xfrm>
          <a:prstGeom prst="rect">
            <a:avLst/>
          </a:prstGeom>
          <a:noFill/>
          <a:ln/>
        </p:spPr>
        <p:txBody>
          <a:bodyPr wrap="square" rtlCol="0" anchor="ctr"/>
          <a:lstStyle/>
          <a:p>
            <a:pPr indent="0" marL="0">
              <a:buNone/>
            </a:pPr>
            <a:r>
              <a:rPr lang="en-US" sz="1100" i="1" dirty="0">
                <a:solidFill>
                  <a:srgbClr val="8598B5"/>
                </a:solidFill>
                <a:latin typeface="Calibri" pitchFamily="34" charset="0"/>
                <a:ea typeface="Calibri" pitchFamily="34" charset="-122"/>
                <a:cs typeface="Calibri" pitchFamily="34" charset="-120"/>
              </a:rPr>
              <a:t>5G Lab-in-a-Box  ·  Phase 2A network slicing — built, validated, and isolation-proven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2026-08-18T13:25:01Z</dcterms:created>
  <dcterms:modified xsi:type="dcterms:W3CDTF">2026-08-18T13:25:01Z</dcterms:modified>
</cp:coreProperties>
</file>